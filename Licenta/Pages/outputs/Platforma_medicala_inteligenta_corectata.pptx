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61e45c98684d13" /><Relationship Type="http://schemas.openxmlformats.org/officeDocument/2006/relationships/extended-properties" Target="/docProps/app.xml" Id="R39ac9e38f7594281" /><Relationship Type="http://schemas.openxmlformats.org/officeDocument/2006/relationships/officeDocument" Target="/ppt/presentation.xml" Id="R5f9b8a1d5861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abb07b8fe4191"/>
  </p:sldMasterIdLst>
  <p:notesMasterIdLst>
    <p:notesMasterId xmlns:r="http://schemas.openxmlformats.org/officeDocument/2006/relationships" r:id="R731ab3a104fc4693"/>
  </p:notesMasterIdLst>
  <p:sldIdLst>
    <p:sldId xmlns:r="http://schemas.openxmlformats.org/officeDocument/2006/relationships" id="256" r:id="R01b2669358564739"/>
    <p:sldId xmlns:r="http://schemas.openxmlformats.org/officeDocument/2006/relationships" id="257" r:id="R9eb9db294c4c4ac6"/>
    <p:sldId xmlns:r="http://schemas.openxmlformats.org/officeDocument/2006/relationships" id="258" r:id="Rb442ef5f4f594426"/>
    <p:sldId xmlns:r="http://schemas.openxmlformats.org/officeDocument/2006/relationships" id="259" r:id="R218e65bdbf7247f0"/>
    <p:sldId xmlns:r="http://schemas.openxmlformats.org/officeDocument/2006/relationships" id="260" r:id="R42675030ee9c4e01"/>
    <p:sldId xmlns:r="http://schemas.openxmlformats.org/officeDocument/2006/relationships" id="261" r:id="Reb532587f4b84cd7"/>
    <p:sldId xmlns:r="http://schemas.openxmlformats.org/officeDocument/2006/relationships" id="262" r:id="Rd4b50a5160834589"/>
    <p:sldId xmlns:r="http://schemas.openxmlformats.org/officeDocument/2006/relationships" id="263" r:id="R8b3e9bd627ef4fc4"/>
    <p:sldId xmlns:r="http://schemas.openxmlformats.org/officeDocument/2006/relationships" id="264" r:id="R645ab8d328584daf"/>
    <p:sldId xmlns:r="http://schemas.openxmlformats.org/officeDocument/2006/relationships" id="265" r:id="Rf435c821527e4350"/>
    <p:sldId xmlns:r="http://schemas.openxmlformats.org/officeDocument/2006/relationships" id="266" r:id="Rfb50ba467e8648a5"/>
    <p:sldId xmlns:r="http://schemas.openxmlformats.org/officeDocument/2006/relationships" id="267" r:id="Rd5e19500988844e6"/>
    <p:sldId xmlns:r="http://schemas.openxmlformats.org/officeDocument/2006/relationships" id="268" r:id="R9ddb1e249b864321"/>
    <p:sldId xmlns:r="http://schemas.openxmlformats.org/officeDocument/2006/relationships" id="269" r:id="R5e139b1175554b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5bbc999f4040ea" /><Relationship Type="http://schemas.openxmlformats.org/officeDocument/2006/relationships/slideMaster" Target="/ppt/slideMasters/slideMaster1.xml" Id="Rdc7abb07b8fe4191" /><Relationship Type="http://schemas.openxmlformats.org/officeDocument/2006/relationships/notesMaster" Target="/ppt/notesMasters/notesMaster1.xml" Id="R731ab3a104fc4693" /><Relationship Type="http://schemas.openxmlformats.org/officeDocument/2006/relationships/presProps" Target="/ppt/presProps.xml" Id="R2fc32735280346ec" /><Relationship Type="http://schemas.openxmlformats.org/officeDocument/2006/relationships/tableStyles" Target="/ppt/tableStyles.xml" Id="R0567b1cae03b4fd3" /><Relationship Type="http://schemas.openxmlformats.org/officeDocument/2006/relationships/slide" Target="/ppt/slides/slide1.xml" Id="R01b2669358564739" /><Relationship Type="http://schemas.openxmlformats.org/officeDocument/2006/relationships/slide" Target="/ppt/slides/slide2.xml" Id="R9eb9db294c4c4ac6" /><Relationship Type="http://schemas.openxmlformats.org/officeDocument/2006/relationships/slide" Target="/ppt/slides/slide3.xml" Id="Rb442ef5f4f594426" /><Relationship Type="http://schemas.openxmlformats.org/officeDocument/2006/relationships/slide" Target="/ppt/slides/slide4.xml" Id="R218e65bdbf7247f0" /><Relationship Type="http://schemas.openxmlformats.org/officeDocument/2006/relationships/slide" Target="/ppt/slides/slide5.xml" Id="R42675030ee9c4e01" /><Relationship Type="http://schemas.openxmlformats.org/officeDocument/2006/relationships/slide" Target="/ppt/slides/slide6.xml" Id="Reb532587f4b84cd7" /><Relationship Type="http://schemas.openxmlformats.org/officeDocument/2006/relationships/slide" Target="/ppt/slides/slide7.xml" Id="Rd4b50a5160834589" /><Relationship Type="http://schemas.openxmlformats.org/officeDocument/2006/relationships/slide" Target="/ppt/slides/slide8.xml" Id="R8b3e9bd627ef4fc4" /><Relationship Type="http://schemas.openxmlformats.org/officeDocument/2006/relationships/slide" Target="/ppt/slides/slide9.xml" Id="R645ab8d328584daf" /><Relationship Type="http://schemas.openxmlformats.org/officeDocument/2006/relationships/slide" Target="/ppt/slides/slide10.xml" Id="Rf435c821527e4350" /><Relationship Type="http://schemas.openxmlformats.org/officeDocument/2006/relationships/slide" Target="/ppt/slides/slide11.xml" Id="Rfb50ba467e8648a5" /><Relationship Type="http://schemas.openxmlformats.org/officeDocument/2006/relationships/slide" Target="/ppt/slides/slide12.xml" Id="Rd5e19500988844e6" /><Relationship Type="http://schemas.openxmlformats.org/officeDocument/2006/relationships/slide" Target="/ppt/slides/slide13.xml" Id="R9ddb1e249b864321" /><Relationship Type="http://schemas.openxmlformats.org/officeDocument/2006/relationships/slide" Target="/ppt/slides/slide14.xml" Id="R5e139b117555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1e690bcf440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b824ac87ab4938" /><Relationship Type="http://schemas.openxmlformats.org/officeDocument/2006/relationships/notesMaster" Target="/ppt/notesMasters/notesMaster1.xml" Id="R7dfd7a5f2c4046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c9d60238d40a9" /><Relationship Type="http://schemas.openxmlformats.org/officeDocument/2006/relationships/notesMaster" Target="/ppt/notesMasters/notesMaster1.xml" Id="Re45ab941d03149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9669fd6225436b" /><Relationship Type="http://schemas.openxmlformats.org/officeDocument/2006/relationships/notesMaster" Target="/ppt/notesMasters/notesMaster1.xml" Id="R9994923d7cca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5919745a3b4199" /><Relationship Type="http://schemas.openxmlformats.org/officeDocument/2006/relationships/notesMaster" Target="/ppt/notesMasters/notesMaster1.xml" Id="R1c5901e66174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df45820ac949ed" /><Relationship Type="http://schemas.openxmlformats.org/officeDocument/2006/relationships/notesMaster" Target="/ppt/notesMasters/notesMaster1.xml" Id="R0d7ae681b13b45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f447d918c94e37" /><Relationship Type="http://schemas.openxmlformats.org/officeDocument/2006/relationships/notesMaster" Target="/ppt/notesMasters/notesMaster1.xml" Id="R7f1ea34d07bb4b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2ee1d20cfe4533" /><Relationship Type="http://schemas.openxmlformats.org/officeDocument/2006/relationships/notesMaster" Target="/ppt/notesMasters/notesMaster1.xml" Id="Rfb85ff97e4944c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5a6e8e68df462b" /><Relationship Type="http://schemas.openxmlformats.org/officeDocument/2006/relationships/notesMaster" Target="/ppt/notesMasters/notesMaster1.xml" Id="R915fc8babbea4d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60dceacc6743f0" /><Relationship Type="http://schemas.openxmlformats.org/officeDocument/2006/relationships/notesMaster" Target="/ppt/notesMasters/notesMaster1.xml" Id="Rabc88a45cae640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3f496c10ae4c33" /><Relationship Type="http://schemas.openxmlformats.org/officeDocument/2006/relationships/notesMaster" Target="/ppt/notesMasters/notesMaster1.xml" Id="R3d1012134cd444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b5839048e6459b" /><Relationship Type="http://schemas.openxmlformats.org/officeDocument/2006/relationships/notesMaster" Target="/ppt/notesMasters/notesMaster1.xml" Id="R96052c5678464c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39839bc37f43dd" /><Relationship Type="http://schemas.openxmlformats.org/officeDocument/2006/relationships/notesMaster" Target="/ppt/notesMasters/notesMaster1.xml" Id="Ra4c933f7668940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2c724864b24ce2" /><Relationship Type="http://schemas.openxmlformats.org/officeDocument/2006/relationships/notesMaster" Target="/ppt/notesMasters/notesMaster1.xml" Id="Rce0ddcd0d4b648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5c2814c5734181" /><Relationship Type="http://schemas.openxmlformats.org/officeDocument/2006/relationships/notesMaster" Target="/ppt/notesMasters/notesMaster1.xml" Id="R9745325b683245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a2844da3949df" /><Relationship Type="http://schemas.openxmlformats.org/officeDocument/2006/relationships/image" Target="/ppt/media/image3.png" Id="Rab63d78490334e0d" /><Relationship Type="http://schemas.openxmlformats.org/officeDocument/2006/relationships/image" Target="/ppt/media/image4.png" Id="R12b9f57ae4aa4e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4fc7f421542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a8f2ad9b247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c03a295c144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2529deddb49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e19d093c442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5e9ee5a8841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65200069546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9b594c6f746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c6107a86045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e55adff20405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d4ceee89740a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95036fb2b4d4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1fec83a2548b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ed68de03245c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255bde793410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c3f5b9ed6400b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3d78490334e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88825" cy="6856214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19C06E2-4EE5-44ED-85CA-FC19F88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8332" y="1540931"/>
            <a:ext cx="7543802" cy="3835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27" name="Picture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b9f57ae4aa4e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-16934" y="3147609"/>
            <a:ext cx="2478024" cy="612648"/>
          </a:xfrm>
          <a:prstGeom xmlns:a="http://schemas.openxmlformats.org/drawingml/2006/main" prst="rect">
            <a:avLst/>
          </a:prstGeom>
        </p:spPr>
      </p:pic>
      <p:pic>
        <p:nvPicPr>
          <p:cNvPr id="28" name="Picture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b9f57ae4aa4e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9736202" y="3147609"/>
            <a:ext cx="2478024" cy="612648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417CE3-9958-471D-AEE6-A4EA6542D6C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92398" y="1871131"/>
            <a:ext cx="6815669" cy="151553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ctr">
              <a:buNone/>
              <a:defRPr sz="54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BE5E85-BEA9-49FB-9CF6-842A0A611B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92398" y="3657597"/>
            <a:ext cx="6815669" cy="132080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BE1577-F79B-4967-9DA5-2F9E65D81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983232" y="5037663"/>
            <a:ext cx="897467" cy="279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0AB6B1-A1DF-425D-984B-709A8DFD1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692397" y="5037663"/>
            <a:ext cx="5214635" cy="279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7455AB-C8AB-4209-BE35-B8755F8DB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56900" y="5037663"/>
            <a:ext cx="551167" cy="279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302D4E25-E246-4840-972D-578FEBD6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399" y="3522131"/>
            <a:ext cx="6815668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D80A5221-58AE-497C-A674-857952F4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2421466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E96D81-D6F4-4D33-A72A-8845F5BDC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CF2F11-E2B3-4E85-BDCA-DA99C87520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F37440-F69E-4759-8AC6-5D2ECB130F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1051AE-D638-4895-AFED-FFEEFB712C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F07D1C-C1DF-4A58-8DC9-79D2AB449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945C6B-370E-445E-BA74-1503E4E6C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5069" y="1752606"/>
            <a:ext cx="8158688" cy="182251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F65DB3-1660-47DF-B6F7-7CFE5880A1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15067" y="3846051"/>
            <a:ext cx="8158690" cy="95454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AD51B7-AE0A-42E6-ABA0-1E9CC1482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AC9579-602D-42C3-93C8-4C98D3959B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9A9FB-C07A-4DD8-B426-89CF192364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1B9E2810-60B9-408C-9077-B83906FF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723" y="3710585"/>
            <a:ext cx="8163380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151D335D-69AD-4035-917B-90F3CD1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2421466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F84474-2ED6-4ECB-B10E-54696B2D5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E0357B-2820-49F1-902D-AB8D41A269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8448" y="2560320"/>
            <a:ext cx="4718304" cy="331012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2DE6DB-EF52-42AA-BDD6-B5E6449F529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81344" y="2560320"/>
            <a:ext cx="4718304" cy="331012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07555E-0093-4077-9669-59660755CB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E48387-9BBF-4A49-8DD2-46E0C4B50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9596A8-D92A-4EA1-934A-EDE2646808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6BC711-F071-4E2C-9757-204A1D399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324A1C-E848-4996-9FBD-E30F3D57DC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400" y="2658533"/>
            <a:ext cx="4718304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EE4B45A-401E-42A4-B175-E5C3F777E58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295400" y="3243262"/>
            <a:ext cx="4718304" cy="263260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CDA8B07-1495-40B2-9F61-03E2A560977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80670" y="2658533"/>
            <a:ext cx="4718304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1773169-BD39-4A18-A3F1-F43FF09D995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80670" y="3243262"/>
            <a:ext cx="4718304" cy="263260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00CEAF8-60A9-4878-8C3A-E594EE9BA7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254112F-4C89-48DC-BB69-42F75B6743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D8AA5DF-AC92-4F52-9F3D-22CB2C68B8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0A2FC3C1-4D7E-45EA-B26D-EDAF5D4C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2421466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A8F98-7689-4AE5-BAE2-FC7E261A6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DA1EABE-B959-461F-AC45-7EDEEBBD79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70DA129-DFC8-432B-A03D-BAD158E59C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D69ABD-B472-4DAF-8F9B-AFA25EED7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8C904E93-EDD8-4C26-83AA-E88FCA8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2421466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82BA030-5B62-48BF-AB01-C8542C518F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CD6EE7-2DBB-42BF-A48B-762EC94876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C4A9A45-58DE-436A-B46B-F4FBA3B247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D5FF74-6CFB-4406-9328-EAED43CC8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3811" y="1388534"/>
            <a:ext cx="3718455" cy="1371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9B7D14-8E28-4437-80EB-ED998BD5C1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18668" y="982131"/>
            <a:ext cx="5469466" cy="489373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267B92C-255C-483E-8062-031CA5BFAE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293811" y="3031065"/>
            <a:ext cx="3718455" cy="243840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B4C0BD-6F77-439B-AFCB-3A6041F275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5250B4-FAEA-469A-9869-F384BBF03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4F6403-7DD8-4CA2-8F6E-D29FEDDB89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81403C11-15FD-4C0A-9A64-2BA4C65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2912533"/>
            <a:ext cx="35144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AD0F26-21D0-41A2-AFFE-163DD77B5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5399" y="1883832"/>
            <a:ext cx="6241816" cy="1371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7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D92603F-B2BD-4F16-B00D-79EFAD5E801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8094831" y="1041400"/>
            <a:ext cx="3063347" cy="4775200"/>
          </a:xfrm>
          <a:prstGeom xmlns:a="http://schemas.openxmlformats.org/drawingml/2006/main" prst="roundRect">
            <a:avLst>
              <a:gd name="adj" fmla="val 0"/>
            </a:avLst>
          </a:prstGeom>
          <a:ln xmlns:a="http://schemas.openxmlformats.org/drawingml/2006/main" w="57150" cmpd="thickThin">
            <a:solidFill>
              <a:schemeClr val="tx1">
                <a:lumMod val="50000"/>
                <a:lumOff val="50000"/>
              </a:schemeClr>
            </a:solidFill>
          </a:ln>
          <a:effectLst xmlns:a="http://schemas.openxmlformats.org/drawingml/2006/main"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E31EC47-FF09-4728-B18D-965757C99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295399" y="3255432"/>
            <a:ext cx="6241816" cy="18288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057EA4-FA3D-40E0-BCFA-80F2E65AC0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B9F0AB-43B1-4013-A8F0-B0DB52589F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FB15D53-0CCB-4DE6-9B79-758ED31A16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FD28A9-73C5-4E66-A9F5-5297F2DD6D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5401" y="4815415"/>
            <a:ext cx="9609666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CD60FE0-6024-4935-8309-C577C1C8485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041427" y="1041399"/>
            <a:ext cx="10105972" cy="3335869"/>
          </a:xfrm>
          <a:prstGeom xmlns:a="http://schemas.openxmlformats.org/drawingml/2006/main" prst="roundRect">
            <a:avLst>
              <a:gd name="adj" fmla="val 0"/>
            </a:avLst>
          </a:prstGeom>
          <a:ln xmlns:a="http://schemas.openxmlformats.org/drawingml/2006/main" w="57150" cmpd="thickThin">
            <a:solidFill>
              <a:schemeClr val="tx1">
                <a:lumMod val="50000"/>
                <a:lumOff val="50000"/>
              </a:schemeClr>
            </a:solidFill>
          </a:ln>
          <a:effectLst xmlns:a="http://schemas.openxmlformats.org/drawingml/2006/main"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1A7F72-8638-419D-AF0A-F6E8528742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295401" y="5382153"/>
            <a:ext cx="9609666" cy="4937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45F842-614C-4E00-8CFA-1447A35183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1E967BE-006B-4CCA-8CE0-935FDDBD9D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7AA042-F15D-4ED9-B60D-4E9E254A31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4FD07-9E41-4497-87AC-6A621161D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3868" y="982132"/>
            <a:ext cx="9592732" cy="295486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32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104CC6-1A72-4FCD-83F3-E5392EE1B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03868" y="4343399"/>
            <a:ext cx="9592732" cy="153246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5B3DC8-EBCE-4946-9FC9-B0BD919C7C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E4A3BE-D449-42E5-B878-F37D8A1CC4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259EDF-DD4F-4025-87CA-D2B2ADB6CB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B117A21D-3F22-4447-89AD-8F60F181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4140199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2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365189-C127-4B20-885E-95E7A880E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3" y="982132"/>
            <a:ext cx="9296398" cy="237066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3200" b="0" cap="none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7066B203-9161-4EFA-86BF-D6EC89D6C21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674812" y="3352800"/>
            <a:ext cx="8839202" cy="584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r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F02135-1229-4213-8F0F-7410669D5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401" y="4343399"/>
            <a:ext cx="9609666" cy="153246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367CF8-B90C-40BF-ADC9-159971C07A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48F38F-CF79-4C2F-839B-16C3736567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DA75C2-5D58-4972-BDB8-3CEA27140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C321284-7DA7-462B-A82E-DE81F12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879961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353E5E-FE60-4FC4-AF97-3133C04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267" y="2827870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AA79D439-78E5-4564-9ED2-9CF8E51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4140199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3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5B3ADC-BF74-4A2B-B8F7-7CC5A651A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5402" y="3308581"/>
            <a:ext cx="9609668" cy="14688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3200" b="0" cap="none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AAC009-D779-46A8-A401-55D96CF906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401" y="4777381"/>
            <a:ext cx="9609668" cy="860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0830C7-4FA3-4288-9AA7-BFD24E4648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FA3B17-1861-4199-8AE8-19EFCFD442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DEAD3A-EA0D-40A8-B3DD-224A5E246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02638B-A91D-4C03-ACD2-1A99B2F17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3" y="982132"/>
            <a:ext cx="9296398" cy="224366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3200" b="0" cap="none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8BC732-5710-411F-B860-3B38B2FA32C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295401" y="3639312"/>
            <a:ext cx="9609668" cy="88696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80F1B7-AF44-4107-A479-1E6BD919CB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401" y="4529667"/>
            <a:ext cx="9609668" cy="13462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7D0168-D6CC-4A44-9246-FC7EA662B7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1ED579-0A06-4A5F-B5B1-EC333CB145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00E647-6839-4649-991E-CA09F5C4B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07B79D-7A8F-44D8-8D5C-0DBCEF7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879961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1F3919D-855D-4FFB-8A98-062E400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267" y="2599261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A84281E0-4C65-41A2-AEBC-1CDB8360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3429000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5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20B882-71B2-41D8-8A78-29730BBD5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5401" y="982132"/>
            <a:ext cx="9609666" cy="2243668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b="0"/>
            </a:lvl1pPr>
          </a:lstStyle>
          <a:p xmlns:a="http://schemas.openxmlformats.org/drawingml/2006/main">
            <a:pPr marL="0">
              <a:buNone/>
            </a:pPr>
            <a:r>
              <a:t>Click to edit Master title style</a:t>
            </a:r>
          </a:p>
        </p:txBody>
      </p:sp>
      <p:sp>
        <p:nvSpPr>
          <p:cNvPr id="2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05DDC8-42E9-4226-A17E-14B5B5AC814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295401" y="3630168"/>
            <a:ext cx="9609668" cy="84124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D2D9B3-7359-4B8D-8DEF-DB4F71FF8B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400" y="4470399"/>
            <a:ext cx="9609670" cy="140546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2E1E8B-F4C8-4483-8B79-0421A12190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A45116-93BC-4266-8A02-D7E18F29EC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DEF562-5A1D-4CE3-AA0B-B2E7299C1A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682FD4CD-B24A-445F-B05E-5B2A3E8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3429000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6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09534F-28DE-4137-8020-B6BD6C835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3F079F-0D5B-4C17-8350-E0A5D6368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20124E-8EAB-4BD3-8D01-09A7855912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F0E0BA-E811-41AC-80D1-17F9D889F1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9F6B7F-E36B-4F76-86FF-6631F6B5EA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7FF86B7C-D29C-49E8-813E-C397D90E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169" y="2421466"/>
            <a:ext cx="9407298" cy="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7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CA1BA4C-498C-4285-9AD5-7F09363B0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99356" y="982131"/>
            <a:ext cx="1890895" cy="489373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BAAF3D-F070-4B85-A65A-70D12A539F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398" y="982132"/>
            <a:ext cx="7433025" cy="4893734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0F8EA2-801B-49D0-B63E-9163D5292B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C05B2-FA9A-4BA9-95AC-0C90F39835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BDE70D-7D78-48AD-9612-D481685B67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869A3E-B3D2-423D-B06C-169D9A121E7B}" type="slidenum">
              <a:t>‹#›</a:t>
            </a:fld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62172DE2-6107-4F8D-8AA9-0EA6603E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890" y="990600"/>
            <a:ext cx="0" cy="4876800"/>
          </a:xfrm>
          <a:prstGeom xmlns:a="http://schemas.openxmlformats.org/drawingml/2006/main" prst="line">
            <a:avLst/>
          </a:prstGeom>
          <a:ln xmlns:a="http://schemas.openxmlformats.org/drawingml/2006/main" w="15875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21aa819ba0e460b" /><Relationship Type="http://schemas.openxmlformats.org/officeDocument/2006/relationships/image" Target="/ppt/media/image2.png" Id="R13282ef6f7b64a2a" /><Relationship Type="http://schemas.openxmlformats.org/officeDocument/2006/relationships/theme" Target="/ppt/slideMasters/theme/theme2.xml" Id="Re2013fb508d4417f" /><Relationship Type="http://schemas.openxmlformats.org/officeDocument/2006/relationships/slideLayout" Target="/ppt/slideLayouts/slideLayout1.xml" Id="R0a1823ecf0b14c2d" /><Relationship Type="http://schemas.openxmlformats.org/officeDocument/2006/relationships/slideLayout" Target="/ppt/slideLayouts/slideLayout2.xml" Id="Rd1b8bb3a3d1d4ab3" /><Relationship Type="http://schemas.openxmlformats.org/officeDocument/2006/relationships/slideLayout" Target="/ppt/slideLayouts/slideLayout3.xml" Id="Rd9989f37c8384498" /><Relationship Type="http://schemas.openxmlformats.org/officeDocument/2006/relationships/slideLayout" Target="/ppt/slideLayouts/slideLayout4.xml" Id="R1de6300947a1464b" /><Relationship Type="http://schemas.openxmlformats.org/officeDocument/2006/relationships/slideLayout" Target="/ppt/slideLayouts/slideLayout5.xml" Id="Rbc2f14ec382d4f59" /><Relationship Type="http://schemas.openxmlformats.org/officeDocument/2006/relationships/slideLayout" Target="/ppt/slideLayouts/slideLayout6.xml" Id="Ra797de2b2dba40f3" /><Relationship Type="http://schemas.openxmlformats.org/officeDocument/2006/relationships/slideLayout" Target="/ppt/slideLayouts/slideLayout7.xml" Id="Rf15b9b32193a487b" /><Relationship Type="http://schemas.openxmlformats.org/officeDocument/2006/relationships/slideLayout" Target="/ppt/slideLayouts/slideLayout8.xml" Id="Ra73c4ee8d33f4682" /><Relationship Type="http://schemas.openxmlformats.org/officeDocument/2006/relationships/slideLayout" Target="/ppt/slideLayouts/slideLayout9.xml" Id="R67c6ae17b5464fe5" /><Relationship Type="http://schemas.openxmlformats.org/officeDocument/2006/relationships/slideLayout" Target="/ppt/slideLayouts/slideLayout10.xml" Id="Rd088f6599ef54a71" /><Relationship Type="http://schemas.openxmlformats.org/officeDocument/2006/relationships/slideLayout" Target="/ppt/slideLayouts/slideLayout11.xml" Id="R63ee706be2454540" /><Relationship Type="http://schemas.openxmlformats.org/officeDocument/2006/relationships/slideLayout" Target="/ppt/slideLayouts/slideLayout12.xml" Id="Rc11e8b3079b64ee3" /><Relationship Type="http://schemas.openxmlformats.org/officeDocument/2006/relationships/slideLayout" Target="/ppt/slideLayouts/slideLayout13.xml" Id="R6c9eca79c7424907" /><Relationship Type="http://schemas.openxmlformats.org/officeDocument/2006/relationships/slideLayout" Target="/ppt/slideLayouts/slideLayout14.xml" Id="R2ef3f95924994075" /><Relationship Type="http://schemas.openxmlformats.org/officeDocument/2006/relationships/slideLayout" Target="/ppt/slideLayouts/slideLayout15.xml" Id="R08a7373c8133483c" /><Relationship Type="http://schemas.openxmlformats.org/officeDocument/2006/relationships/slideLayout" Target="/ppt/slideLayouts/slideLayout16.xml" Id="R9ca47259b2ee4aec" /><Relationship Type="http://schemas.openxmlformats.org/officeDocument/2006/relationships/slideLayout" Target="/ppt/slideLayouts/slideLayout17.xml" Id="R5db27049def6443f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aa819ba0e46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88825" cy="685621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E8E1061-51BF-4A14-88E7-22351CFA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012" y="609600"/>
            <a:ext cx="10972800" cy="56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282ef6f7b64a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-15736" y="3153832"/>
            <a:ext cx="777240" cy="606425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282ef6f7b64a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0" flipH="0" flipV="0">
            <a:off x="11436986" y="3153832"/>
            <a:ext cx="777240" cy="606425"/>
          </a:xfrm>
          <a:prstGeom xmlns:a="http://schemas.openxmlformats.org/drawingml/2006/main" prst="rect">
            <a:avLst/>
          </a:prstGeom>
        </p:spPr>
      </p:pic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6227782-F429-4836-B3EA-0D349186B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5402" y="982132"/>
            <a:ext cx="9601196" cy="13038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675D4B-79B0-4264-902F-F06FA8AE9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5401" y="2556932"/>
            <a:ext cx="9601196" cy="3318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64DDE7-01DC-421F-BBC8-DE6E5C2A444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677501" y="5969000"/>
            <a:ext cx="1600200" cy="2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517E87D7-89A9-4654-9C01-219490759114}" type="datetimeFigureOut">
              <a:t>7/1/2026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DA5FD9-9F4E-4B11-A3B8-5CB9F2F0E1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95401" y="5969000"/>
            <a:ext cx="7305900" cy="2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9E845F-EE40-42BE-BC70-9A6FD1F1BB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353901" y="5969000"/>
            <a:ext cx="542697" cy="2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0" i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9D869A3E-B3D2-423D-B06C-169D9A121E7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1823ecf0b14c2d"/>
    <p:sldLayoutId xmlns:r="http://schemas.openxmlformats.org/officeDocument/2006/relationships" id="2147483650" r:id="Rd1b8bb3a3d1d4ab3"/>
    <p:sldLayoutId xmlns:r="http://schemas.openxmlformats.org/officeDocument/2006/relationships" id="2147483651" r:id="Rd9989f37c8384498"/>
    <p:sldLayoutId xmlns:r="http://schemas.openxmlformats.org/officeDocument/2006/relationships" id="2147483652" r:id="R1de6300947a1464b"/>
    <p:sldLayoutId xmlns:r="http://schemas.openxmlformats.org/officeDocument/2006/relationships" id="2147483653" r:id="Rbc2f14ec382d4f59"/>
    <p:sldLayoutId xmlns:r="http://schemas.openxmlformats.org/officeDocument/2006/relationships" id="2147483654" r:id="Ra797de2b2dba40f3"/>
    <p:sldLayoutId xmlns:r="http://schemas.openxmlformats.org/officeDocument/2006/relationships" id="2147483655" r:id="Rf15b9b32193a487b"/>
    <p:sldLayoutId xmlns:r="http://schemas.openxmlformats.org/officeDocument/2006/relationships" id="2147483656" r:id="Ra73c4ee8d33f4682"/>
    <p:sldLayoutId xmlns:r="http://schemas.openxmlformats.org/officeDocument/2006/relationships" id="2147483657" r:id="R67c6ae17b5464fe5"/>
    <p:sldLayoutId xmlns:r="http://schemas.openxmlformats.org/officeDocument/2006/relationships" id="2147483658" r:id="Rd088f6599ef54a71"/>
    <p:sldLayoutId xmlns:r="http://schemas.openxmlformats.org/officeDocument/2006/relationships" id="2147483659" r:id="R63ee706be2454540"/>
    <p:sldLayoutId xmlns:r="http://schemas.openxmlformats.org/officeDocument/2006/relationships" id="2147483660" r:id="Rc11e8b3079b64ee3"/>
    <p:sldLayoutId xmlns:r="http://schemas.openxmlformats.org/officeDocument/2006/relationships" id="2147483661" r:id="R6c9eca79c7424907"/>
    <p:sldLayoutId xmlns:r="http://schemas.openxmlformats.org/officeDocument/2006/relationships" id="2147483662" r:id="R2ef3f95924994075"/>
    <p:sldLayoutId xmlns:r="http://schemas.openxmlformats.org/officeDocument/2006/relationships" id="2147483663" r:id="R08a7373c8133483c"/>
    <p:sldLayoutId xmlns:r="http://schemas.openxmlformats.org/officeDocument/2006/relationships" id="2147483664" r:id="R9ca47259b2ee4aec"/>
    <p:sldLayoutId xmlns:r="http://schemas.openxmlformats.org/officeDocument/2006/relationships" id="2147483665" r:id="R5db27049def6443f"/>
  </p:sldLayoutIdLst>
  <p:txStyles>
    <p:titleStyle>
      <a:lvl1pPr xmlns:a="http://schemas.openxmlformats.org/drawingml/2006/main" algn="ctr">
        <a:buNone/>
        <a:defRPr sz="44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285750" indent="-285750" algn="l">
        <a:spcAft>
          <a:spcPts val="600"/>
        </a:spcAft>
        <a:buChar char="•"/>
        <a:defRPr sz="24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Aft>
          <a:spcPts val="600"/>
        </a:spcAft>
        <a:buChar char="•"/>
        <a:defRPr sz="20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200150" indent="-285750" algn="l">
        <a:spcAft>
          <a:spcPts val="600"/>
        </a:spcAft>
        <a:buChar char="•"/>
        <a:defRPr sz="18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543050" indent="-171450" algn="l">
        <a:spcAft>
          <a:spcPts val="600"/>
        </a:spcAft>
        <a:buChar char="•"/>
        <a:defRPr sz="16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00250" indent="-171450" algn="l">
        <a:spcAft>
          <a:spcPts val="600"/>
        </a:spcAft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Aft>
          <a:spcPts val="600"/>
        </a:spcAft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Aft>
          <a:spcPts val="600"/>
        </a:spcAft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Aft>
          <a:spcPts val="600"/>
        </a:spcAft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Aft>
          <a:spcPts val="600"/>
        </a:spcAft>
        <a:buChar char="•"/>
        <a:defRPr sz="1400" cap="none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179075224373" /><Relationship Type="http://schemas.openxmlformats.org/officeDocument/2006/relationships/notesSlide" Target="/ppt/notesSlides/notesSlide1.xml" Id="Rf8b2bf84041746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e6470779af439d" /><Relationship Type="http://schemas.openxmlformats.org/officeDocument/2006/relationships/notesSlide" Target="/ppt/notesSlides/notesSlide2.xml" Id="R3fe7625223a7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3cc8ddc5be4fb6" /><Relationship Type="http://schemas.openxmlformats.org/officeDocument/2006/relationships/notesSlide" Target="/ppt/notesSlides/notesSlide3.xml" Id="Rf080244eeefe4e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1b7244edb446a7" /><Relationship Type="http://schemas.openxmlformats.org/officeDocument/2006/relationships/notesSlide" Target="/ppt/notesSlides/notesSlide4.xml" Id="R258a9b612d3d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30b01dba8fb4aae" /><Relationship Type="http://schemas.openxmlformats.org/officeDocument/2006/relationships/image" Target="/ppt/media/image.jpeg" Id="R1fda8f0bd537416e" /><Relationship Type="http://schemas.openxmlformats.org/officeDocument/2006/relationships/notesSlide" Target="/ppt/notesSlides/notesSlide5.xml" Id="R084c412c010947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1825aba7d040aa" /><Relationship Type="http://schemas.openxmlformats.org/officeDocument/2006/relationships/notesSlide" Target="/ppt/notesSlides/notesSlide6.xml" Id="R8b75206d4ad44e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bf0f2f3b454e00" /><Relationship Type="http://schemas.openxmlformats.org/officeDocument/2006/relationships/notesSlide" Target="/ppt/notesSlides/notesSlide7.xml" Id="R5bf1bb9e41fd48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3e24b4ff6041ba" /><Relationship Type="http://schemas.openxmlformats.org/officeDocument/2006/relationships/image" Target="/ppt/media/image5.png" Id="Rcbef1fa3458d4630" /><Relationship Type="http://schemas.openxmlformats.org/officeDocument/2006/relationships/notesSlide" Target="/ppt/notesSlides/notesSlide8.xml" Id="R2fd1152099ee49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3db1111c754e5e" /><Relationship Type="http://schemas.openxmlformats.org/officeDocument/2006/relationships/image" Target="/ppt/media/image6.png" Id="R578319ef053c4690" /><Relationship Type="http://schemas.openxmlformats.org/officeDocument/2006/relationships/notesSlide" Target="/ppt/notesSlides/notesSlide9.xml" Id="Re6873a920fc648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d512a73a9f24ff4" /><Relationship Type="http://schemas.openxmlformats.org/officeDocument/2006/relationships/image" Target="/ppt/media/image7.png" Id="R4a8049250c4643b8" /><Relationship Type="http://schemas.openxmlformats.org/officeDocument/2006/relationships/notesSlide" Target="/ppt/notesSlides/notesSlide10.xml" Id="R9f96a1f9bd2a4a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9bd217b5aed49ac" /><Relationship Type="http://schemas.openxmlformats.org/officeDocument/2006/relationships/notesSlide" Target="/ppt/notesSlides/notesSlide11.xml" Id="R321cca031a3c41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967abfa1bac474a" /><Relationship Type="http://schemas.openxmlformats.org/officeDocument/2006/relationships/image" Target="/ppt/media/image8.png" Id="R2becc2cc028645c9" /><Relationship Type="http://schemas.openxmlformats.org/officeDocument/2006/relationships/image" Target="/ppt/media/image9.png" Id="R81ede1602fdb4fec" /><Relationship Type="http://schemas.openxmlformats.org/officeDocument/2006/relationships/notesSlide" Target="/ppt/notesSlides/notesSlide12.xml" Id="R0a7316a4882540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bf833eabd94ba7" /><Relationship Type="http://schemas.openxmlformats.org/officeDocument/2006/relationships/notesSlide" Target="/ppt/notesSlides/notesSlide13.xml" Id="R051b0200ee3a49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662b134ae604c09" /><Relationship Type="http://schemas.openxmlformats.org/officeDocument/2006/relationships/notesSlide" Target="/ppt/notesSlides/notesSlide14.xml" Id="R5b3f3d80cada4c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3E7451-9A96-0A1D-141E-85D1B5B05C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02177" y="1481328"/>
            <a:ext cx="6729984" cy="21396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4700"/>
              <a:t>Platformă Medicală Inteligentă cu Analiză Predictivă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23FA135-A91C-D1ED-C471-CA64BB4167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02177" y="3776472"/>
            <a:ext cx="6987645" cy="138853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Autor:Nadolu</a:t>
            </a:r>
            <a:r>
              <a:rPr>
                <a:latin typeface="Times New Roman"/>
                <a:ea typeface="Times New Roman"/>
                <a:cs typeface="Times New Roman"/>
              </a:rPr>
              <a:t> Radu-Dimitri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Coordonator</a:t>
            </a:r>
            <a:r>
              <a:rPr>
                <a:latin typeface="Times New Roman"/>
                <a:ea typeface="Times New Roman"/>
                <a:cs typeface="Times New Roman"/>
              </a:rPr>
              <a:t>:</a:t>
            </a:r>
            <a:r>
              <a:rPr>
                <a:latin typeface="Times New Roman"/>
                <a:ea typeface="Times New Roman"/>
                <a:cs typeface="Times New Roman"/>
              </a:rPr>
              <a:t>Șef lucr. dr. ing. Paul-Ștefan Popescu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Facultatea de Automatică, Calculatoare și Electronică</a:t>
            </a:r>
          </a:p>
        </p:txBody>
      </p:sp>
    </p:spTree>
    <p:extLst>
      <p:ext uri="{BB962C8B-B14F-4D97-AF65-F5344CB8AC3E}">
        <p14:creationId xmlns:p14="http://schemas.microsoft.com/office/powerpoint/2010/main" val="3442486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D0F52B-87F0-76C5-E45E-09F9D1DFE3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0009" y="140395"/>
            <a:ext cx="10018713" cy="175259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166E18D-E2A2-47FA-8F1A-C1FC2CB1F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4311" y="1893180"/>
            <a:ext cx="4895056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CB22805-6317-195E-D773-53EA8864E5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84311" y="2584706"/>
            <a:ext cx="4895056" cy="320649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C9BBAA-9709-608E-34C4-D42B9AAC42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645274" y="1892994"/>
            <a:ext cx="4758796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DA02A19-D850-65AB-A2CE-4F39915422C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645274" y="2584705"/>
            <a:ext cx="4895056" cy="3206494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Necesitatea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digitalizării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proceselor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medicale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Centralizarea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informațiilor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într</a:t>
            </a:r>
            <a:r>
              <a:rPr>
                <a:latin typeface="Times New Roman"/>
                <a:ea typeface="Times New Roman"/>
                <a:cs typeface="Times New Roman"/>
              </a:rPr>
              <a:t>-o </a:t>
            </a:r>
            <a:r>
              <a:rPr>
                <a:latin typeface="Times New Roman"/>
                <a:ea typeface="Times New Roman"/>
                <a:cs typeface="Times New Roman"/>
              </a:rPr>
              <a:t>singură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platformă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Integrarea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inteligenței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artificiale</a:t>
            </a:r>
            <a:r>
              <a:rPr>
                <a:latin typeface="Times New Roman"/>
                <a:ea typeface="Times New Roman"/>
                <a:cs typeface="Times New Roman"/>
              </a:rPr>
              <a:t> ca </a:t>
            </a:r>
            <a:r>
              <a:rPr>
                <a:latin typeface="Times New Roman"/>
                <a:ea typeface="Times New Roman"/>
                <a:cs typeface="Times New Roman"/>
              </a:rPr>
              <a:t>suport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pentru</a:t>
            </a:r>
            <a:r>
              <a:rPr>
                <a:latin typeface="Times New Roman"/>
                <a:ea typeface="Times New Roman"/>
                <a:cs typeface="Times New Roman"/>
              </a:rPr>
              <a:t> diagnostic </a:t>
            </a:r>
          </a:p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Aplicarea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tehnologiilor</a:t>
            </a:r>
            <a:r>
              <a:rPr>
                <a:latin typeface="Times New Roman"/>
                <a:ea typeface="Times New Roman"/>
                <a:cs typeface="Times New Roman"/>
              </a:rPr>
              <a:t> web </a:t>
            </a:r>
            <a:r>
              <a:rPr>
                <a:latin typeface="Times New Roman"/>
                <a:ea typeface="Times New Roman"/>
                <a:cs typeface="Times New Roman"/>
              </a:rPr>
              <a:t>moderne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și</a:t>
            </a:r>
            <a:r>
              <a:rPr>
                <a:latin typeface="Times New Roman"/>
                <a:ea typeface="Times New Roman"/>
                <a:cs typeface="Times New Roman"/>
              </a:rPr>
              <a:t> a </a:t>
            </a:r>
            <a:r>
              <a:rPr>
                <a:latin typeface="Times New Roman"/>
                <a:ea typeface="Times New Roman"/>
                <a:cs typeface="Times New Roman"/>
              </a:rPr>
              <a:t>tehnicilor</a:t>
            </a:r>
            <a:r>
              <a:rPr>
                <a:latin typeface="Times New Roman"/>
                <a:ea typeface="Times New Roman"/>
                <a:cs typeface="Times New Roman"/>
              </a:rPr>
              <a:t>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6576898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8A8CB5-9B62-8BA7-C327-809C83031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84310" y="301752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6919C3-1F33-0C3A-AF3C-1351C61C62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84310" y="2054351"/>
            <a:ext cx="10018713" cy="37368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0C40C-8867-493A-B173-F0D91775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3B014-B37C-4DCE-BF74-9FA46088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Funcționalități principale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1DFD4-0D29-4283-B71A-5BE61638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4124F-C50E-4424-97E5-CEB59A7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Flux integrat pe roluri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6F251-A6BA-412C-8FDC-8557A48A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Module centrale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17537-DA09-4D17-96DF-964C7A83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11430">
            <a:solidFill>
              <a:srgbClr val="2D6C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Pacient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B3D6C-EE2A-4B27-B0C8-CEF8FDA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18597-1B73-442B-AFC0-3D7C871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1219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63D2"/>
          </a:solidFill>
          <a:ln xmlns:a="http://schemas.openxmlformats.org/drawingml/2006/main" w="11430">
            <a:solidFill>
              <a:srgbClr val="8A63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Asistent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8A3AB-0CC1-4689-859A-DF15DCDE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11430">
            <a:solidFill>
              <a:srgbClr val="6B72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6F103-DF06-41B9-AD73-8BBCDB5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98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8D1AD-9C6A-4ABE-AEF0-59DA65AC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290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465A1-77A3-46FC-9005-A9785D2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48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1B8DF-F691-4EE2-91AA-25D17BD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673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CC063-9F65-460D-A56B-D3933E2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Platformă web</a:t>
            </a:r>
          </a:p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ASP.NET Core + Razor Pages</a:t>
            </a:r>
          </a:p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Autentificare pe roluri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70839-200C-44C9-9EF5-12E52EDB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67D9A-5327-4A11-9ADE-1C63EB5C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Programări</a:t>
            </a:r>
          </a:p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calendar, disponibilitate, cereri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4FC2C-A04D-4894-B731-33411A63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Fișe medicale</a:t>
            </a:r>
          </a:p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istoric, prescripții, documente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736F8-4F4B-4225-8FC0-57EF3058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D6C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AI mamografii</a:t>
            </a:r>
          </a:p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benign / malign, probabilități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340F7-A1C6-40E5-9415-F49592B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Comunicare</a:t>
            </a:r>
          </a:p>
          <a:p xmlns:a="http://schemas.openxmlformats.org/drawingml/2006/main">
            <a:pPr algn="ctr">
              <a:defRPr sz="1125" b="1">
                <a:solidFill>
                  <a:srgbClr val="1F1D1B"/>
                </a:solidFill>
              </a:defRPr>
            </a:pPr>
            <a:r>
              <a:rPr sz="1125" b="1">
                <a:solidFill>
                  <a:srgbClr val="1F1D1B"/>
                </a:solidFill>
              </a:rPr>
              <a:t>mesagerie, notificări SignalR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490D3-351C-4B88-A1CE-9715F8C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578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4F4B46"/>
                </a:solidFill>
              </a:defRPr>
            </a:pPr>
            <a:r>
              <a:rPr sz="1275" b="0" i="1">
                <a:solidFill>
                  <a:srgbClr val="4F4B46"/>
                </a:solidFill>
              </a:rPr>
              <a:t>Rezultat: toate operațiile clinice sunt centralizate într-un singur flux controlat și trasabil.</a:t>
            </a:r>
          </a:p>
        </p:txBody>
      </p:sp>
    </p:spTree>
    <p:extLst>
      <p:ext uri="{BB962C8B-B14F-4D97-AF65-F5344CB8AC3E}">
        <p14:creationId xmlns:p14="http://schemas.microsoft.com/office/powerpoint/2010/main" val="42039318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411DECA-8F6E-F068-348B-911468B5D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1705E8-2D4B-81E4-ACD3-EB743EF14F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5402" y="2524583"/>
            <a:ext cx="3117725" cy="36796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300" b="1"/>
              <a:t/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7F68675-167E-33D2-952A-33D6E076B1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026898" y="2524583"/>
            <a:ext cx="3392425" cy="36796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/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815A34-5E25-C856-7FA6-D1D36209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150" y="2524583"/>
            <a:ext cx="3117725" cy="3693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75FFF-11F5-43CB-80C2-5D698135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44001-77C5-42DF-826E-31313CA2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Tehnologii utilizate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7FE85-7430-4761-A243-E78AFAD7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03B9-048E-49AA-92DA-2E556202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038350" cy="2857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7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DD5AA-414B-4B88-A862-D60E0D3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24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11430">
            <a:solidFill>
              <a:srgbClr val="2D6C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CAE8D-319B-4E6C-B26E-4F9B8242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1657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HTML5 / CSS3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Bootstrap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JavaScript + Fetch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Razor Pages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9EFF9-5FFF-4AF4-9F3F-ABB9324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2038350" cy="2857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7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B72D3-2B4E-4152-8055-676B9524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11430">
            <a:solidFill>
              <a:srgbClr val="6D5B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E8810-AB8B-4766-B2CB-34FCA238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14750"/>
            <a:ext cx="1657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ASP.NET Core 9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C#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ASP.NET Identity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SignalR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B6AE7-B000-492D-B111-1586458E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038350" cy="2857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7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14873-351F-4FFC-9DD2-2A1DC214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24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DF08D-884F-47F4-8559-AB339680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657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Entity Framework Core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SQL Server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Migrații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Soft-delete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F6992-3446-4746-B7B5-281B3C0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038350" cy="28575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ED7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EF948-1B52-45A7-AB3D-01EC1B7C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24150"/>
            <a:ext cx="95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53C5C-7DBA-49BE-B05D-525AF616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657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Python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PyTorch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FastAPI</a:t>
            </a:r>
          </a:p>
          <a:p xmlns:a="http://schemas.openxmlformats.org/drawingml/2006/main">
            <a:pPr algn="ctr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EfficientNet-V2-S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73633-5132-4205-8558-4EBC8AE5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4F4B46"/>
                </a:solidFill>
              </a:defRPr>
            </a:pPr>
            <a:r>
              <a:rPr sz="1350" b="0" i="1">
                <a:solidFill>
                  <a:srgbClr val="4F4B46"/>
                </a:solidFill>
              </a:rPr>
              <a:t>Aplicația web gestionează fluxul clinic, iar microserviciul AI rulează separat inferența pe imagini.</a:t>
            </a:r>
          </a:p>
        </p:txBody>
      </p:sp>
    </p:spTree>
    <p:extLst>
      <p:ext uri="{BB962C8B-B14F-4D97-AF65-F5344CB8AC3E}">
        <p14:creationId xmlns:p14="http://schemas.microsoft.com/office/powerpoint/2010/main" val="2352761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a8f0bd53741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2562" y="667512"/>
            <a:ext cx="7989051" cy="5541395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27E2E3-5264-E8DD-573E-B5220E8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33133" y="2767280"/>
            <a:ext cx="6702552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/>
              <a:t>Arhitectura</a:t>
            </a:r>
            <a:r>
              <a:rPr sz="4000"/>
              <a:t> </a:t>
            </a:r>
          </a:p>
          <a:p xmlns:a="http://schemas.openxmlformats.org/drawingml/2006/main">
            <a:pPr algn="ctr">
              <a:buNone/>
            </a:pPr>
            <a:r>
              <a:rPr sz="4000"/>
              <a:t>Sistemului</a:t>
            </a:r>
          </a:p>
        </p:txBody>
      </p:sp>
    </p:spTree>
    <p:extLst>
      <p:ext uri="{BB962C8B-B14F-4D97-AF65-F5344CB8AC3E}">
        <p14:creationId xmlns:p14="http://schemas.microsoft.com/office/powerpoint/2010/main" val="21938063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3A623-38A6-545F-B0C6-002862E7C5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84311" y="385762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Mammogram Mastery Dataset (Mendeley Data, 2024)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6AA429-9985-8CC9-73D3-51EF6FBDD3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61428" y="2238226"/>
            <a:ext cx="4890555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Setul</a:t>
            </a:r>
            <a:r>
              <a:t> de Date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AEF754-9C98-4943-485B-C439EF875C6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95133" y="2814488"/>
            <a:ext cx="5100867" cy="351316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500" b="1"/>
              <a:t>Volum</a:t>
            </a:r>
            <a:r>
              <a:rPr sz="1500" b="1"/>
              <a:t> Total:</a:t>
            </a:r>
            <a:r>
              <a:rPr sz="1500"/>
              <a:t> 10.430 de </a:t>
            </a:r>
            <a:r>
              <a:rPr sz="1500"/>
              <a:t>imagini</a:t>
            </a:r>
            <a:r>
              <a:rPr sz="1500"/>
              <a:t> </a:t>
            </a:r>
            <a:r>
              <a:rPr sz="1500"/>
              <a:t>mamografice</a:t>
            </a:r>
            <a:r>
              <a:rPr sz="1500"/>
              <a:t> </a:t>
            </a:r>
            <a:r>
              <a:rPr sz="1500"/>
              <a:t>digitale</a:t>
            </a:r>
            <a:r>
              <a:rPr sz="1500"/>
              <a:t> (Greyscale).</a:t>
            </a:r>
          </a:p>
          <a:p xmlns:a="http://schemas.openxmlformats.org/drawingml/2006/main">
            <a:r>
              <a:rPr sz="1500" b="1"/>
              <a:t>Structura</a:t>
            </a:r>
            <a:r>
              <a:rPr sz="1500" b="1"/>
              <a:t> </a:t>
            </a:r>
            <a:r>
              <a:rPr sz="1500" b="1"/>
              <a:t>Datasetului</a:t>
            </a:r>
            <a:r>
              <a:rPr sz="1500" b="1"/>
              <a:t>:</a:t>
            </a:r>
          </a:p>
          <a:p xmlns:a="http://schemas.openxmlformats.org/drawingml/2006/main">
            <a:pPr>
              <a:buNone/>
            </a:pPr>
            <a:r>
              <a:rPr sz="1400" b="1"/>
              <a:t>Imagini</a:t>
            </a:r>
            <a:r>
              <a:rPr sz="1400" b="1"/>
              <a:t> </a:t>
            </a:r>
            <a:r>
              <a:rPr sz="1400" b="1"/>
              <a:t>Originale</a:t>
            </a:r>
            <a:r>
              <a:rPr sz="1400" b="1"/>
              <a:t>:</a:t>
            </a:r>
            <a:r>
              <a:rPr sz="1400"/>
              <a:t> 745 de </a:t>
            </a:r>
            <a:r>
              <a:rPr sz="1400"/>
              <a:t>imagini</a:t>
            </a:r>
            <a:r>
              <a:rPr sz="1400"/>
              <a:t> brute, </a:t>
            </a:r>
            <a:r>
              <a:rPr sz="1400"/>
              <a:t>colectate</a:t>
            </a:r>
            <a:r>
              <a:rPr sz="1400"/>
              <a:t> direct din </a:t>
            </a:r>
            <a:r>
              <a:rPr sz="1400"/>
              <a:t>clinică</a:t>
            </a:r>
            <a:r>
              <a:rPr sz="1400"/>
              <a:t>.</a:t>
            </a:r>
          </a:p>
          <a:p xmlns:a="http://schemas.openxmlformats.org/drawingml/2006/main">
            <a:pPr>
              <a:buNone/>
            </a:pPr>
            <a:r>
              <a:rPr sz="1400" b="1"/>
              <a:t>Imagini</a:t>
            </a:r>
            <a:r>
              <a:rPr sz="1400" b="1"/>
              <a:t> </a:t>
            </a:r>
            <a:r>
              <a:rPr sz="1400" b="1"/>
              <a:t>Augmentate</a:t>
            </a:r>
            <a:r>
              <a:rPr sz="1400" b="1"/>
              <a:t>:</a:t>
            </a:r>
            <a:r>
              <a:rPr sz="1400"/>
              <a:t> 9.685 de </a:t>
            </a:r>
            <a:r>
              <a:rPr sz="1400"/>
              <a:t>imagini</a:t>
            </a:r>
            <a:r>
              <a:rPr sz="1400"/>
              <a:t> generate </a:t>
            </a:r>
            <a:r>
              <a:rPr sz="1400"/>
              <a:t>prin</a:t>
            </a:r>
            <a:r>
              <a:rPr sz="1400"/>
              <a:t> </a:t>
            </a:r>
            <a:r>
              <a:rPr sz="1400"/>
              <a:t>tehnici</a:t>
            </a:r>
            <a:r>
              <a:rPr sz="1400"/>
              <a:t> de </a:t>
            </a:r>
            <a:r>
              <a:rPr sz="1400"/>
              <a:t>procesare</a:t>
            </a:r>
            <a:r>
              <a:rPr sz="1400"/>
              <a:t> </a:t>
            </a:r>
            <a:r>
              <a:rPr sz="1400"/>
              <a:t>pentru</a:t>
            </a:r>
            <a:r>
              <a:rPr sz="1400"/>
              <a:t> </a:t>
            </a:r>
            <a:r>
              <a:rPr sz="1400"/>
              <a:t>extinderea</a:t>
            </a:r>
            <a:r>
              <a:rPr sz="1400"/>
              <a:t> </a:t>
            </a:r>
            <a:r>
              <a:rPr sz="1400"/>
              <a:t>setului</a:t>
            </a:r>
            <a:r>
              <a:rPr sz="1400"/>
              <a:t>.</a:t>
            </a:r>
          </a:p>
          <a:p xmlns:a="http://schemas.openxmlformats.org/drawingml/2006/main">
            <a:pPr>
              <a:buNone/>
            </a:pPr>
            <a:r>
              <a:rPr sz="1400" b="1"/>
              <a:t>Tip </a:t>
            </a:r>
            <a:r>
              <a:rPr sz="1400" b="1"/>
              <a:t>Problemă</a:t>
            </a:r>
            <a:r>
              <a:rPr sz="1400" b="1"/>
              <a:t>:</a:t>
            </a:r>
            <a:r>
              <a:rPr sz="1400"/>
              <a:t> </a:t>
            </a:r>
            <a:r>
              <a:rPr sz="1400"/>
              <a:t>Clasificare</a:t>
            </a:r>
            <a:r>
              <a:rPr sz="1400"/>
              <a:t> </a:t>
            </a:r>
            <a:r>
              <a:rPr sz="1400"/>
              <a:t>binară</a:t>
            </a:r>
            <a:r>
              <a:rPr sz="1400"/>
              <a:t> standard (BENIGN / MALIGNANT).</a:t>
            </a:r>
          </a:p>
          <a:p xmlns:a="http://schemas.openxmlformats.org/drawingml/2006/main">
            <a:pPr>
              <a:buNone/>
            </a:pPr>
            <a:r>
              <a:rPr sz="1400" b="1"/>
              <a:t>Validarea</a:t>
            </a:r>
            <a:r>
              <a:rPr sz="1400" b="1"/>
              <a:t> </a:t>
            </a:r>
            <a:r>
              <a:rPr sz="1400" b="1"/>
              <a:t>Modelelor</a:t>
            </a:r>
            <a:r>
              <a:rPr sz="1400" b="1"/>
              <a:t>:</a:t>
            </a:r>
            <a:r>
              <a:rPr sz="1400"/>
              <a:t> </a:t>
            </a:r>
            <a:r>
              <a:rPr sz="1400"/>
              <a:t>Datasetul</a:t>
            </a:r>
            <a:r>
              <a:rPr sz="1400"/>
              <a:t> include </a:t>
            </a:r>
            <a:r>
              <a:rPr sz="1400"/>
              <a:t>subseturi</a:t>
            </a:r>
            <a:r>
              <a:rPr sz="1400"/>
              <a:t> dedicate </a:t>
            </a:r>
            <a:r>
              <a:rPr sz="1400"/>
              <a:t>pentru</a:t>
            </a:r>
            <a:r>
              <a:rPr sz="1400"/>
              <a:t> </a:t>
            </a:r>
            <a:r>
              <a:rPr sz="1400"/>
              <a:t>antrenare</a:t>
            </a:r>
            <a:r>
              <a:rPr sz="1400"/>
              <a:t> </a:t>
            </a:r>
            <a:r>
              <a:rPr sz="1400"/>
              <a:t>și</a:t>
            </a:r>
            <a:r>
              <a:rPr sz="1400"/>
              <a:t> </a:t>
            </a:r>
            <a:r>
              <a:rPr sz="1400"/>
              <a:t>validare</a:t>
            </a:r>
            <a:r>
              <a:rPr sz="1400"/>
              <a:t>, </a:t>
            </a:r>
            <a:r>
              <a:rPr sz="1400"/>
              <a:t>permițând</a:t>
            </a:r>
            <a:r>
              <a:rPr sz="1400"/>
              <a:t> </a:t>
            </a:r>
            <a:r>
              <a:rPr sz="1400"/>
              <a:t>evaluarea</a:t>
            </a:r>
            <a:r>
              <a:rPr sz="1400"/>
              <a:t> </a:t>
            </a:r>
            <a:r>
              <a:rPr sz="1400"/>
              <a:t>riguroasă</a:t>
            </a:r>
            <a:r>
              <a:rPr sz="1400"/>
              <a:t> a </a:t>
            </a:r>
            <a:r>
              <a:rPr sz="1400"/>
              <a:t>capacității</a:t>
            </a:r>
            <a:r>
              <a:rPr sz="1400"/>
              <a:t> de </a:t>
            </a:r>
            <a:r>
              <a:rPr sz="1400"/>
              <a:t>generalizare</a:t>
            </a:r>
            <a:r>
              <a:rPr sz="1400"/>
              <a:t> pe </a:t>
            </a:r>
            <a:r>
              <a:rPr sz="1400"/>
              <a:t>ambele</a:t>
            </a:r>
            <a:r>
              <a:rPr sz="1400"/>
              <a:t> </a:t>
            </a:r>
            <a:r>
              <a:rPr sz="1400"/>
              <a:t>clase</a:t>
            </a:r>
            <a:r>
              <a:rPr sz="1400"/>
              <a:t>.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4E3A464-F7FD-7FA9-6853-F319AD00AA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93667" y="2238226"/>
            <a:ext cx="4895056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</a:t>
            </a:r>
            <a:r>
              <a:t>Tehnic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3831FF1-ECDD-7265-8692-1BFC3DEE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667" y="2814488"/>
            <a:ext cx="4631533" cy="2400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83D2BF7-DB72-6B88-34C2-343A607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666" y="5791407"/>
            <a:ext cx="463153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2BADB-A070-44FB-9C81-703B5A9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29180-1DCC-41DD-9F90-C17283D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Pipeline tehnic de procesare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95724-97CE-414E-BA09-211709CE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6A94D-2BC3-440C-84C4-6312EB2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B19B0-675B-403B-A09F-513699F2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CCAE5-D773-41F9-BCB0-47739CC7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10.430 imagini</a:t>
            </a:r>
          </a:p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Mammogram Mastery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9DB2A-C137-4721-BFB1-25924E6B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997D8-3EFD-4276-8F69-825C70A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8E5CE-D0C8-4BC8-B152-8E36066A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Standardizare</a:t>
            </a:r>
          </a:p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rezoluție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91459-AB9E-4657-A712-093D2B07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224 × 224 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46274-DC04-4F73-A1FE-E0A179FF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894AB-8F14-4C86-9FEA-38CD1E6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5ACDE-1E58-4130-8E96-B28C555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Normalizare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5D5F8-CE88-49FF-A125-42D9B20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tensori + statistici</a:t>
            </a:r>
          </a:p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ImageNet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5E076-5DA7-463E-A7C7-5E8EC0F5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5FC4C-5F62-4BD2-A22B-E9F6A827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846F0-A16A-404D-A0C1-A1D6E2B8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Augmentare</a:t>
            </a:r>
          </a:p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dinamică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8A773-D037-4003-97F3-AB0379AE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rotații, translații,</a:t>
            </a:r>
          </a:p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flip orizontal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67690-7809-4E5B-8367-001BC615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A132A-5D4E-4282-B13A-2D35FBE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98286-CE74-4493-A2C3-684D54A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Regularizare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D29C8-571B-412B-B7D8-460D44DC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Random Erasing</a:t>
            </a:r>
          </a:p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Label smoothing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1AE99-3628-4F87-BFF1-7ABD89AC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8968A-C300-4901-B21A-841242AC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D4CC18-460C-4FC2-96B8-7A7FAC87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Antrenare</a:t>
            </a:r>
          </a:p>
          <a:p xmlns:a="http://schemas.openxmlformats.org/drawingml/2006/main">
            <a:pPr algn="ctr">
              <a:defRPr sz="1200" b="1" i="0">
                <a:solidFill>
                  <a:srgbClr val="1F1D1B"/>
                </a:solidFill>
              </a:defRPr>
            </a:pPr>
            <a:r>
              <a:rPr sz="1200" b="1" i="0">
                <a:solidFill>
                  <a:srgbClr val="1F1D1B"/>
                </a:solidFill>
              </a:rPr>
              <a:t>algoritm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40097-FED7-4C0E-AE2A-E5594CF4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EfficientNet-V2-S</a:t>
            </a:r>
          </a:p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transfer learning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E49658-912E-4DAF-9CA6-13BE9AE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671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F9517"/>
                </a:solidFill>
              </a:defRPr>
            </a:pPr>
            <a:r>
              <a:rPr sz="2100" b="1" i="0">
                <a:solidFill>
                  <a:srgbClr val="6F9517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693522-634C-411A-803C-8761D538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527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C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31974A-93FC-4A3C-969B-42DE5148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051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9517"/>
                </a:solidFill>
              </a:defRPr>
            </a:pPr>
            <a:r>
              <a:rPr sz="1200" b="1" i="0">
                <a:solidFill>
                  <a:srgbClr val="6F9517"/>
                </a:solidFill>
              </a:rPr>
              <a:t>Rezultate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A59FE2-80A0-4ED6-8FF7-8E8DAB3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76650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probabilități</a:t>
            </a:r>
          </a:p>
          <a:p xmlns:a="http://schemas.openxmlformats.org/drawingml/2006/main">
            <a:pPr algn="ctr">
              <a:defRPr sz="938" b="0" i="0">
                <a:solidFill>
                  <a:srgbClr val="4F4B46"/>
                </a:solidFill>
              </a:defRPr>
            </a:pPr>
            <a:r>
              <a:rPr sz="938" b="0" i="0">
                <a:solidFill>
                  <a:srgbClr val="4F4B46"/>
                </a:solidFill>
              </a:rPr>
              <a:t>benign / malign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E0A41-423B-41C5-A4BE-9AFE92A8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F4B46"/>
                </a:solidFill>
              </a:defRPr>
            </a:pPr>
            <a:r>
              <a:rPr sz="1350" b="0" i="0">
                <a:solidFill>
                  <a:srgbClr val="4F4B46"/>
                </a:solidFill>
              </a:rPr>
              <a:t>Ideea slide-ului: imaginea nu intră direct în model. Ea trece printr-un lanț controlat de preprocesare, regularizare și validare.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3AFDC8-C865-4EB7-A3C9-4D569B0E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578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F9517"/>
                </a:solidFill>
              </a:defRPr>
            </a:pPr>
            <a:r>
              <a:rPr sz="1125" b="0" i="0">
                <a:solidFill>
                  <a:srgbClr val="6F9517"/>
                </a:solidFill>
              </a:rPr>
              <a:t>Link dataset: https://data.mendeley.com/datasets/fvjhtskg93/1</a:t>
            </a:r>
          </a:p>
        </p:txBody>
      </p:sp>
    </p:spTree>
    <p:extLst>
      <p:ext uri="{BB962C8B-B14F-4D97-AF65-F5344CB8AC3E}">
        <p14:creationId xmlns:p14="http://schemas.microsoft.com/office/powerpoint/2010/main" val="39100082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AB7E48-FB7F-DAE8-3C91-E47E914B9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5509" y="704088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DC8F6-8EA7-7C64-0E45-486D0BD56A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4311" y="2280315"/>
            <a:ext cx="4890555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8C6148-0EC0-4588-DBAC-C9DA764244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84311" y="2998532"/>
            <a:ext cx="4895056" cy="28368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63C13D-5054-FED3-1F57-DCFC2B42F67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607967" y="2288124"/>
            <a:ext cx="4895056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5D19E8D-DA8B-AF7D-9E3D-637F4A53761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607967" y="2907092"/>
            <a:ext cx="4895056" cy="324682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FC7F7-A44B-43DA-876B-77E7D9A1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E5EC4-6C75-4CBA-ADE1-7FD619A5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Arhitectura modelului și deciziile tehnice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3294F-A423-4575-BBF3-9DD3E3BA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BCA9C-0EFF-43C8-949F-1DAC4B64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33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Funcții de activare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60181-3731-4347-9695-8F4B02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241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ReLU</a:t>
            </a:r>
          </a:p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f(x)=max(0,x)</a:t>
            </a:r>
          </a:p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rapidă, simplă</a:t>
            </a:r>
          </a:p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poate bloca neuroni pe valori negative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8C0FA-238A-46B1-A8D6-933D6F7A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2714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AC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SiLU / Swish</a:t>
            </a:r>
          </a:p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f(x)=x·sigmoid(x)</a:t>
            </a:r>
          </a:p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netedă, păstrează semnal negativ mic</a:t>
            </a:r>
          </a:p>
          <a:p xmlns:a="http://schemas.openxmlformats.org/drawingml/2006/main">
            <a:pPr algn="ctr">
              <a:defRPr sz="1200" b="0">
                <a:solidFill>
                  <a:srgbClr val="1F1D1B"/>
                </a:solidFill>
              </a:defRPr>
            </a:pPr>
            <a:r>
              <a:rPr sz="1200" b="0">
                <a:solidFill>
                  <a:srgbClr val="1F1D1B"/>
                </a:solidFill>
              </a:rPr>
              <a:t>gradienți mai stabili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DCE08-C87E-4890-8379-471CDFD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Ieșire și eficiență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2CE7-656D-4914-9E13-8201F786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D6C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D1B"/>
                </a:solidFill>
              </a:defRPr>
            </a:pPr>
            <a:r>
              <a:rPr sz="1275" b="1">
                <a:solidFill>
                  <a:srgbClr val="1F1D1B"/>
                </a:solidFill>
              </a:rPr>
              <a:t>SoftMax</a:t>
            </a:r>
          </a:p>
          <a:p xmlns:a="http://schemas.openxmlformats.org/drawingml/2006/main">
            <a:pPr algn="ctr">
              <a:defRPr sz="1275" b="1">
                <a:solidFill>
                  <a:srgbClr val="1F1D1B"/>
                </a:solidFill>
              </a:defRPr>
            </a:pPr>
            <a:r>
              <a:rPr sz="1275" b="1">
                <a:solidFill>
                  <a:srgbClr val="1F1D1B"/>
                </a:solidFill>
              </a:rPr>
              <a:t>transformă logit-urile în probabilități normalizate</a:t>
            </a:r>
          </a:p>
          <a:p xmlns:a="http://schemas.openxmlformats.org/drawingml/2006/main">
            <a:pPr algn="ctr">
              <a:defRPr sz="1275" b="1">
                <a:solidFill>
                  <a:srgbClr val="1F1D1B"/>
                </a:solidFill>
              </a:defRPr>
            </a:pPr>
            <a:r>
              <a:rPr sz="1275" b="1">
                <a:solidFill>
                  <a:srgbClr val="1F1D1B"/>
                </a:solidFill>
              </a:rPr>
              <a:t>P(benign)+P(malign)=1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78DAC-D8A2-46A3-A321-CE9D6370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Precizie mixtă AMP</a:t>
            </a:r>
          </a:p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calcule rapide FP16/BF16 + stabilitate FP32</a:t>
            </a:r>
          </a:p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consum mai mic de memorie și inferență mai rapidă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255D9-8021-44AA-81F1-37EDCCCA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053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• EfficientNet-V2-S folosește transfer learning pe ImageNet.</a:t>
            </a:r>
          </a:p>
          <a:p xmlns:a="http://schemas.openxmlformats.org/drawingml/2006/main">
            <a:pPr algn="l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• Fine-tuning-ul adaptează clasificatorul la mamografii.</a:t>
            </a:r>
          </a:p>
          <a:p xmlns:a="http://schemas.openxmlformats.org/drawingml/2006/main">
            <a:pPr algn="l">
              <a:defRPr sz="1275" b="0" i="0">
                <a:solidFill>
                  <a:srgbClr val="1F1D1B"/>
                </a:solidFill>
              </a:defRPr>
            </a:pPr>
            <a:r>
              <a:rPr sz="1275" b="0" i="0">
                <a:solidFill>
                  <a:srgbClr val="1F1D1B"/>
                </a:solidFill>
              </a:rPr>
              <a:t>• SoftMax nu decide diagnosticul singur: medicul validează rezultatul.</a:t>
            </a:r>
          </a:p>
        </p:txBody>
      </p:sp>
    </p:spTree>
    <p:extLst>
      <p:ext uri="{BB962C8B-B14F-4D97-AF65-F5344CB8AC3E}">
        <p14:creationId xmlns:p14="http://schemas.microsoft.com/office/powerpoint/2010/main" val="17303047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EEDCA9-3250-5081-6958-42288D44B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5509" y="610012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9A70FC-BFE9-2CD8-0134-190E8095D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4311" y="2280315"/>
            <a:ext cx="4890555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3AA5641-4DC6-B70E-07F0-127B26D220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365509" y="2856577"/>
            <a:ext cx="5013858" cy="329657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600"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646DE92-FEC2-01C5-B303-54619FFF92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34498" y="2280315"/>
            <a:ext cx="4895056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7" name="Content Placeholder 7"/>
          <p:cNvPicPr>
            <a:picLocks xmlns:a="http://schemas.openxmlformats.org/drawingml/2006/main" noChangeAspect="1"/>
          </p:cNvPicPr>
          <p:nvPr>
            <p:ph idx="4"/>
          </p:nvPr>
        </p:nvPicPr>
        <p:blipFill>
          <a:blip xmlns:r="http://schemas.openxmlformats.org/officeDocument/2006/relationships" xmlns:a="http://schemas.openxmlformats.org/drawingml/2006/main" r:embed="Rcbef1fa3458d4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4498" y="2906713"/>
            <a:ext cx="3841204" cy="32464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04B59-6BB1-40C5-8B9A-E5E4A5AB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F13D1-E8F0-45EC-B8D3-048CA59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Cum se interpretează metricile modelului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F97D2-ABB5-4033-ABA1-15314AEE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F12CD-548C-43E4-90CA-54AAC62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D6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FD912-C23A-4D93-9663-E284213B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F9517"/>
                </a:solidFill>
              </a:defRPr>
            </a:pPr>
            <a:r>
              <a:rPr sz="1275" b="1" i="0">
                <a:solidFill>
                  <a:srgbClr val="6F9517"/>
                </a:solidFill>
              </a:rPr>
              <a:t>Acuratețe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50B30-EF9C-417D-9959-7565858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336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1D1B"/>
                </a:solidFill>
              </a:defRPr>
            </a:pPr>
            <a:r>
              <a:rPr sz="975" b="0" i="0">
                <a:solidFill>
                  <a:srgbClr val="1F1D1B"/>
                </a:solidFill>
              </a:rPr>
              <a:t>(TP+TN)/(Total)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FFED9-FAF0-4F30-A22B-4503B348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813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4B46"/>
                </a:solidFill>
              </a:defRPr>
            </a:pPr>
            <a:r>
              <a:rPr sz="900" b="0" i="0">
                <a:solidFill>
                  <a:srgbClr val="4F4B46"/>
                </a:solidFill>
              </a:rPr>
              <a:t>procentul total de predicții corecte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EA7B3-832A-4AEC-9ED6-C6B186A6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3362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D6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441E8-F978-4809-AE73-F1A9CC49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288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F9517"/>
                </a:solidFill>
              </a:defRPr>
            </a:pPr>
            <a:r>
              <a:rPr sz="1275" b="1" i="0">
                <a:solidFill>
                  <a:srgbClr val="6F9517"/>
                </a:solidFill>
              </a:rPr>
              <a:t>Acuratețe balansată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D5A6D-64B9-4851-9231-BDA613A2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336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1D1B"/>
                </a:solidFill>
              </a:defRPr>
            </a:pPr>
            <a:r>
              <a:rPr sz="975" b="0" i="0">
                <a:solidFill>
                  <a:srgbClr val="1F1D1B"/>
                </a:solidFill>
              </a:rPr>
              <a:t>(Recall+Specificitate)/2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A307A-7CB2-483E-AA08-FCC2917F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8132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4B46"/>
                </a:solidFill>
              </a:defRPr>
            </a:pPr>
            <a:r>
              <a:rPr sz="900" b="0" i="0">
                <a:solidFill>
                  <a:srgbClr val="4F4B46"/>
                </a:solidFill>
              </a:rPr>
              <a:t>mai corectă când clasele sunt dezechilibrate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3E8BC-EA2A-47D0-B4E9-F69CAE33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33625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D6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85EBC-CF3A-4EA1-8FF8-63E15BC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288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6CDF"/>
                </a:solidFill>
              </a:defRPr>
            </a:pPr>
            <a:r>
              <a:rPr sz="1275" b="1" i="0">
                <a:solidFill>
                  <a:srgbClr val="2D6CDF"/>
                </a:solidFill>
              </a:rPr>
              <a:t>Precizie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709B7-66FC-4034-AA48-F5FCC909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1D1B"/>
                </a:solidFill>
              </a:defRPr>
            </a:pPr>
            <a:r>
              <a:rPr sz="975" b="0" i="0">
                <a:solidFill>
                  <a:srgbClr val="1F1D1B"/>
                </a:solidFill>
              </a:rPr>
              <a:t>TP/(TP+FP)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B7564-8EBD-41F2-9649-09F3CD4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813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4B46"/>
                </a:solidFill>
              </a:defRPr>
            </a:pPr>
            <a:r>
              <a:rPr sz="900" b="0" i="0">
                <a:solidFill>
                  <a:srgbClr val="4F4B46"/>
                </a:solidFill>
              </a:rPr>
              <a:t>cât de corecte sunt predicțiile pozitive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12CF0-E94E-4591-A629-A15FDFA1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D6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A5898-B9F1-493A-9C94-6E55361D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288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73535"/>
                </a:solidFill>
              </a:defRPr>
            </a:pPr>
            <a:r>
              <a:rPr sz="1275" b="1" i="0">
                <a:solidFill>
                  <a:srgbClr val="C73535"/>
                </a:solidFill>
              </a:rPr>
              <a:t>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C7D1E-31DC-40E0-A9F4-33A5CFE4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336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1D1B"/>
                </a:solidFill>
              </a:defRPr>
            </a:pPr>
            <a:r>
              <a:rPr sz="975" b="0" i="0">
                <a:solidFill>
                  <a:srgbClr val="1F1D1B"/>
                </a:solidFill>
              </a:rPr>
              <a:t>TP/(TP+FN)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7B805-7584-4D3F-B827-33C5D8EB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813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4B46"/>
                </a:solidFill>
              </a:defRPr>
            </a:pPr>
            <a:r>
              <a:rPr sz="900" b="0" i="0">
                <a:solidFill>
                  <a:srgbClr val="4F4B46"/>
                </a:solidFill>
              </a:rPr>
              <a:t>câte cazuri reale pozitive sunt găsite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A88BF-B1A3-4D5C-B53A-97519038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D6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7C1D6-87D1-46CB-93BE-76510AA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5A600"/>
                </a:solidFill>
              </a:defRPr>
            </a:pPr>
            <a:r>
              <a:rPr sz="1275" b="1" i="0">
                <a:solidFill>
                  <a:srgbClr val="D5A600"/>
                </a:solidFill>
              </a:rPr>
              <a:t>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65CD4-6E91-4FCD-B4DD-D3C715E6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336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1D1B"/>
                </a:solidFill>
              </a:defRPr>
            </a:pPr>
            <a:r>
              <a:rPr sz="975" b="0" i="0">
                <a:solidFill>
                  <a:srgbClr val="1F1D1B"/>
                </a:solidFill>
              </a:rPr>
              <a:t>2·P·R/(P+R)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B018B-925E-4874-A966-49BD2BD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81325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F4B46"/>
                </a:solidFill>
              </a:defRPr>
            </a:pPr>
            <a:r>
              <a:rPr sz="900" b="0" i="0">
                <a:solidFill>
                  <a:srgbClr val="4F4B46"/>
                </a:solidFill>
              </a:rPr>
              <a:t>echilibru între precizie și recall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62106-488C-4B7F-90F8-A8D8751E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Metrici statistice folosite în validare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9A331-C8B2-4363-BF5F-4662F5CB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1D1B"/>
                </a:solidFill>
              </a:defRPr>
            </a:pPr>
            <a:r>
              <a:rPr sz="1200" b="0" i="0">
                <a:solidFill>
                  <a:srgbClr val="1F1D1B"/>
                </a:solidFill>
              </a:rPr>
              <a:t>• MCC verifică performanța pe toate cele patru valori ale matricei de confuzie.</a:t>
            </a:r>
          </a:p>
          <a:p xmlns:a="http://schemas.openxmlformats.org/drawingml/2006/main">
            <a:pPr algn="l">
              <a:defRPr sz="1200" b="0" i="0">
                <a:solidFill>
                  <a:srgbClr val="1F1D1B"/>
                </a:solidFill>
              </a:defRPr>
            </a:pPr>
            <a:r>
              <a:rPr sz="1200" b="0" i="0">
                <a:solidFill>
                  <a:srgbClr val="1F1D1B"/>
                </a:solidFill>
              </a:rPr>
              <a:t>• Kappa Cohen estimează acordul modelului peste nivelul întâmplării.</a:t>
            </a:r>
          </a:p>
          <a:p xmlns:a="http://schemas.openxmlformats.org/drawingml/2006/main">
            <a:pPr algn="l">
              <a:defRPr sz="1200" b="0" i="0">
                <a:solidFill>
                  <a:srgbClr val="1F1D1B"/>
                </a:solidFill>
              </a:defRPr>
            </a:pPr>
            <a:r>
              <a:rPr sz="1200" b="0" i="0">
                <a:solidFill>
                  <a:srgbClr val="1F1D1B"/>
                </a:solidFill>
              </a:rPr>
              <a:t>• AUC/ROC arată separarea dintre clase pe toate pragurile de decizie.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CD1B2-7986-435D-9D87-BDC8E3FB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9575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Testare suplimentară</a:t>
            </a:r>
          </a:p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Pe lângă imaginile din dataset, am folosit și imagini externe de pe internet pentru a verifica dacă aplicația rulează corect și pe exemple care nu provin direct din setul de antrenare.</a:t>
            </a:r>
          </a:p>
        </p:txBody>
      </p:sp>
    </p:spTree>
    <p:extLst>
      <p:ext uri="{BB962C8B-B14F-4D97-AF65-F5344CB8AC3E}">
        <p14:creationId xmlns:p14="http://schemas.microsoft.com/office/powerpoint/2010/main" val="20925474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AAC078-AF3D-CE82-243D-2D61AC0DB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6643" y="565087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18218D-A961-0747-557E-BDDACF6D35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67628" y="2568446"/>
            <a:ext cx="3379918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6" name="Content Placeholder 6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578319ef053c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7524" y="3144708"/>
            <a:ext cx="3654477" cy="3067307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27F0D3-02FA-598B-F21C-7F188206785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80670" y="2568446"/>
            <a:ext cx="5212754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6CEF325-AF05-83A8-F85A-8DEED7A80FA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80670" y="3270694"/>
            <a:ext cx="4846994" cy="28368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B83AF-EE7D-42DE-9EA6-2A7918A7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9A82C-8608-4D6E-90D6-6DC86309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Stabilitatea modelului la schimbarea pragului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E9186-748A-42B8-A3C6-B1C7D78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6E6CA-2488-4A5E-9657-13539EED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Tabelul pragurilor de decizie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30889-8D49-49EC-AA92-0117C43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813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D1B"/>
                </a:solidFill>
              </a:defRPr>
            </a:pPr>
            <a:r>
              <a:rPr sz="975" b="1">
                <a:solidFill>
                  <a:srgbClr val="1F1D1B"/>
                </a:solidFill>
              </a:rPr>
              <a:t>Prag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43030-DD09-424C-B5DD-165545B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Acuratețe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C6680-B031-4F34-89F6-1C18C4E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Precizie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21CED-2C91-4DE9-9BE1-B3DE556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Recall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8EB90-B2CE-481E-A4A1-2E339D73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Specificitate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9C0E7-3054-47D0-8415-F89A946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3F3C4-B28F-4B1C-A0CF-0F5BC95F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D1B"/>
                </a:solidFill>
              </a:defRPr>
            </a:pPr>
            <a:r>
              <a:rPr sz="975" b="1">
                <a:solidFill>
                  <a:srgbClr val="1F1D1B"/>
                </a:solidFill>
              </a:rPr>
              <a:t>0.1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66916-09A9-4E22-961C-03E62C82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F28A2-8551-4723-A09F-782FAC9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04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8EA9A-F877-44D1-AEA7-1EAA219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FD654-8C35-4BC0-8461-53B0EC87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0.9981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85FD4-033C-4BC8-931A-5A5BFD3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0.9951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CBA1C-195E-42ED-922E-03E78032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D1B"/>
                </a:solidFill>
              </a:defRPr>
            </a:pPr>
            <a:r>
              <a:rPr sz="975" b="1">
                <a:solidFill>
                  <a:srgbClr val="1F1D1B"/>
                </a:solidFill>
              </a:rPr>
              <a:t>0.3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A7515-3843-441D-8ED3-78803548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0.9992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F3F86-AE5A-4C28-81A0-14793D6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0.9951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488692-8F55-46BE-8879-15D66C32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38207-120A-4211-9B5B-BD5DCAE9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0.9990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FAAFB-53B2-4DAA-9E5E-3FEBA2A6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0.9976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FF741D-90F5-4C32-A9B0-15F3119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386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D1B"/>
                </a:solidFill>
              </a:defRPr>
            </a:pPr>
            <a:r>
              <a:rPr sz="975" b="1">
                <a:solidFill>
                  <a:srgbClr val="1F1D1B"/>
                </a:solidFill>
              </a:rPr>
              <a:t>0.5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BF9F03-4640-48FC-8167-E74C2EBB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80945C-796F-408A-92D2-113520E0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446B8-7E0E-4851-91A0-25650D13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1684C6-D675-433C-93F1-9731667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71A7C-09DA-465A-A5BD-8FA9E2F1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9C31C6-92AB-463B-A95A-2DD654E5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D1B"/>
                </a:solidFill>
              </a:defRPr>
            </a:pPr>
            <a:r>
              <a:rPr sz="975" b="1">
                <a:solidFill>
                  <a:srgbClr val="1F1D1B"/>
                </a:solidFill>
              </a:rPr>
              <a:t>0.7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5471F4-715F-41F1-90BC-7736CEB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126ED4-1EF7-4D7A-8652-14EECA3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19FF03-7656-49C6-AEA5-76D4D217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2039D0-CF54-4685-817E-82A171C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485DF3-3A41-4760-BE98-446D3FCD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D1B"/>
                </a:solidFill>
              </a:defRPr>
            </a:pPr>
            <a:r>
              <a:rPr sz="900" b="1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67D641-2FAD-43DB-96D2-53373AA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D1B"/>
                </a:solidFill>
              </a:defRPr>
            </a:pPr>
            <a:r>
              <a:rPr sz="975" b="1">
                <a:solidFill>
                  <a:srgbClr val="1F1D1B"/>
                </a:solidFill>
              </a:rPr>
              <a:t>0.9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2E3C10-1943-47F4-B312-D5D43453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0.9992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1E4567-CC01-48BD-976C-8E8BE1CE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43E951-BEFE-4568-AD36-C775E252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0.9951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771B56-00FF-47D0-A864-99387B85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E22D64-3395-46C7-9032-6A670A7A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D1B"/>
                </a:solidFill>
              </a:defRPr>
            </a:pPr>
            <a:r>
              <a:rPr sz="900" b="0">
                <a:solidFill>
                  <a:srgbClr val="1F1D1B"/>
                </a:solidFill>
              </a:rPr>
              <a:t>0.9976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26EBDF-8CD1-4CD0-9F5A-C1CEF5DE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428750" cy="20764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F1D1B"/>
                </a:solidFill>
              </a:defRPr>
            </a:pPr>
            <a:r>
              <a:rPr sz="863" b="1">
                <a:solidFill>
                  <a:srgbClr val="1F1D1B"/>
                </a:solidFill>
              </a:rPr>
              <a:t>Cum citim pragurile</a:t>
            </a:r>
          </a:p>
          <a:p xmlns:a="http://schemas.openxmlformats.org/drawingml/2006/main">
            <a:pPr algn="ctr">
              <a:defRPr sz="863" b="1">
                <a:solidFill>
                  <a:srgbClr val="1F1D1B"/>
                </a:solidFill>
              </a:defRPr>
            </a:pPr>
            <a:r>
              <a:rPr sz="863" b="1">
                <a:solidFill>
                  <a:srgbClr val="1F1D1B"/>
                </a:solidFill>
              </a:rPr>
              <a:t>0.1 favorizează recall-ul.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63" b="1">
                <a:solidFill>
                  <a:srgbClr val="1F1D1B"/>
                </a:solidFill>
              </a:defRPr>
            </a:pPr>
            <a:r>
              <a:rPr sz="863" b="1">
                <a:solidFill>
                  <a:srgbClr val="1F1D1B"/>
                </a:solidFill>
              </a:rPr>
              <a:t>0.9 favorizează precizia.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863" b="1">
                <a:solidFill>
                  <a:srgbClr val="1F1D1B"/>
                </a:solidFill>
              </a:defRPr>
            </a:pPr>
            <a:r>
              <a:rPr sz="863" b="1">
                <a:solidFill>
                  <a:srgbClr val="1F1D1B"/>
                </a:solidFill>
              </a:rPr>
              <a:t>0.5 și 0.7 rămân ideale pe setul validat.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6F30FF-7413-43F9-87CC-3145D6ED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F4B46"/>
                </a:solidFill>
              </a:defRPr>
            </a:pPr>
            <a:r>
              <a:rPr sz="1200" b="0" i="0">
                <a:solidFill>
                  <a:srgbClr val="4F4B46"/>
                </a:solidFill>
              </a:rPr>
              <a:t>Interpretare: 0.5 și 0.7 păstrează toate metricile la 1.0000. Pragurile extreme schimbă ușor precizia sau recall-ul, dar modelul rămâne stabil și fără zonă mare de indecizie.</a:t>
            </a:r>
          </a:p>
        </p:txBody>
      </p:sp>
    </p:spTree>
    <p:extLst>
      <p:ext uri="{BB962C8B-B14F-4D97-AF65-F5344CB8AC3E}">
        <p14:creationId xmlns:p14="http://schemas.microsoft.com/office/powerpoint/2010/main" val="6899598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BB016B-75E5-3858-B614-3C05F9130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68941" y="606553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Distribuția</a:t>
            </a:r>
            <a:r>
              <a:t> </a:t>
            </a:r>
            <a:r>
              <a:t>Predicțiilor</a:t>
            </a:r>
            <a:r>
              <a:t> </a:t>
            </a:r>
            <a:r>
              <a:t>și</a:t>
            </a:r>
            <a:r>
              <a:t> </a:t>
            </a:r>
            <a:r>
              <a:t>Robustețea</a:t>
            </a:r>
            <a:r>
              <a:t> 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4820F6-FED7-6D92-00DA-C8A8D028F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68941" y="2359152"/>
            <a:ext cx="4674075" cy="88411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Separarea</a:t>
            </a:r>
            <a:r>
              <a:t> </a:t>
            </a:r>
            <a:r>
              <a:t>Categorică</a:t>
            </a:r>
            <a:r>
              <a:t> a </a:t>
            </a:r>
            <a:r>
              <a:t>Claselor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350A49-49CC-A698-4D5D-4BE843D4E0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8298" y="2667000"/>
            <a:ext cx="5212754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Distribuția</a:t>
            </a:r>
            <a:r>
              <a:t> </a:t>
            </a:r>
            <a:r>
              <a:t>Vizuală</a:t>
            </a:r>
            <a:r>
              <a:t> a </a:t>
            </a:r>
            <a:r>
              <a:t>Scorurilor</a:t>
            </a:r>
          </a:p>
        </p:txBody>
      </p:sp>
      <p:pic>
        <p:nvPicPr>
          <p:cNvPr id="11" name="Content Placeholder 8"/>
          <p:cNvPicPr>
            <a:picLocks xmlns:a="http://schemas.openxmlformats.org/drawingml/2006/main" noChangeAspect="1"/>
          </p:cNvPicPr>
          <p:nvPr>
            <p:ph idx="4"/>
          </p:nvPr>
        </p:nvPicPr>
        <p:blipFill>
          <a:blip xmlns:r="http://schemas.openxmlformats.org/officeDocument/2006/relationships" xmlns:a="http://schemas.openxmlformats.org/drawingml/2006/main" r:embed="R4a8049250c46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0138" y="3304003"/>
            <a:ext cx="4848225" cy="2715381"/>
          </a:xfrm>
          <a:prstGeom xmlns:a="http://schemas.openxmlformats.org/drawingml/2006/main" prst="rect">
            <a:avLst/>
          </a:prstGeom>
        </p:spPr>
      </p:pic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848C92B-0E8A-8C37-9056-4D6DAE833C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88136" y="3243262"/>
            <a:ext cx="5007864" cy="277612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700" b="1">
                <a:latin typeface="Times New Roman"/>
                <a:ea typeface="Times New Roman"/>
                <a:cs typeface="Times New Roman"/>
              </a:rPr>
              <a:t>Interval [0.0 - 0.1) (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Siguranță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 Benign):</a:t>
            </a:r>
            <a:r>
              <a:rPr sz="1700">
                <a:latin typeface="Times New Roman"/>
                <a:ea typeface="Times New Roman"/>
                <a:cs typeface="Times New Roman"/>
              </a:rPr>
              <a:t> 1.045 de </a:t>
            </a:r>
            <a:r>
              <a:rPr sz="1700">
                <a:latin typeface="Times New Roman"/>
                <a:ea typeface="Times New Roman"/>
                <a:cs typeface="Times New Roman"/>
              </a:rPr>
              <a:t>imagini</a:t>
            </a:r>
            <a:r>
              <a:rPr sz="17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r>
              <a:rPr sz="1700" b="1">
                <a:latin typeface="Times New Roman"/>
                <a:ea typeface="Times New Roman"/>
                <a:cs typeface="Times New Roman"/>
              </a:rPr>
              <a:t>Interval [0.9 - 1.0] (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Siguranță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 Malign):</a:t>
            </a:r>
            <a:r>
              <a:rPr sz="1700">
                <a:latin typeface="Times New Roman"/>
                <a:ea typeface="Times New Roman"/>
                <a:cs typeface="Times New Roman"/>
              </a:rPr>
              <a:t> 204 </a:t>
            </a:r>
            <a:r>
              <a:rPr sz="1700">
                <a:latin typeface="Times New Roman"/>
                <a:ea typeface="Times New Roman"/>
                <a:cs typeface="Times New Roman"/>
              </a:rPr>
              <a:t>imagini</a:t>
            </a:r>
            <a:r>
              <a:rPr sz="17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r>
              <a:rPr sz="1700" b="1">
                <a:latin typeface="Times New Roman"/>
                <a:ea typeface="Times New Roman"/>
                <a:cs typeface="Times New Roman"/>
              </a:rPr>
              <a:t>Zona 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gri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 (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Incertitudine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în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jur</a:t>
            </a:r>
            <a:r>
              <a:rPr sz="1700" b="1">
                <a:latin typeface="Times New Roman"/>
                <a:ea typeface="Times New Roman"/>
                <a:cs typeface="Times New Roman"/>
              </a:rPr>
              <a:t> de 0.5):</a:t>
            </a:r>
            <a:r>
              <a:rPr sz="1700">
                <a:latin typeface="Times New Roman"/>
                <a:ea typeface="Times New Roman"/>
                <a:cs typeface="Times New Roman"/>
              </a:rPr>
              <a:t> 0 </a:t>
            </a:r>
            <a:r>
              <a:rPr sz="1700">
                <a:latin typeface="Times New Roman"/>
                <a:ea typeface="Times New Roman"/>
                <a:cs typeface="Times New Roman"/>
              </a:rPr>
              <a:t>imagini</a:t>
            </a:r>
            <a:r>
              <a:rPr sz="17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r>
              <a:rPr sz="1700">
                <a:latin typeface="Times New Roman"/>
                <a:ea typeface="Times New Roman"/>
                <a:cs typeface="Times New Roman"/>
              </a:rPr>
              <a:t>Modelul</a:t>
            </a:r>
            <a:r>
              <a:rPr sz="1700">
                <a:latin typeface="Times New Roman"/>
                <a:ea typeface="Times New Roman"/>
                <a:cs typeface="Times New Roman"/>
              </a:rPr>
              <a:t> </a:t>
            </a:r>
            <a:r>
              <a:rPr sz="1700">
                <a:latin typeface="Times New Roman"/>
                <a:ea typeface="Times New Roman"/>
                <a:cs typeface="Times New Roman"/>
              </a:rPr>
              <a:t>prezintă</a:t>
            </a:r>
            <a:r>
              <a:rPr sz="1700">
                <a:latin typeface="Times New Roman"/>
                <a:ea typeface="Times New Roman"/>
                <a:cs typeface="Times New Roman"/>
              </a:rPr>
              <a:t> o </a:t>
            </a:r>
            <a:r>
              <a:rPr sz="1700">
                <a:latin typeface="Times New Roman"/>
                <a:ea typeface="Times New Roman"/>
                <a:cs typeface="Times New Roman"/>
              </a:rPr>
              <a:t>polarizare</a:t>
            </a:r>
            <a:r>
              <a:rPr sz="1700">
                <a:latin typeface="Times New Roman"/>
                <a:ea typeface="Times New Roman"/>
                <a:cs typeface="Times New Roman"/>
              </a:rPr>
              <a:t> </a:t>
            </a:r>
            <a:r>
              <a:rPr sz="1700">
                <a:latin typeface="Times New Roman"/>
                <a:ea typeface="Times New Roman"/>
                <a:cs typeface="Times New Roman"/>
              </a:rPr>
              <a:t>puternică</a:t>
            </a:r>
            <a:r>
              <a:rPr sz="1700">
                <a:latin typeface="Times New Roman"/>
                <a:ea typeface="Times New Roman"/>
                <a:cs typeface="Times New Roman"/>
              </a:rPr>
              <a:t> la extreme, </a:t>
            </a:r>
            <a:r>
              <a:rPr sz="1700">
                <a:latin typeface="Times New Roman"/>
                <a:ea typeface="Times New Roman"/>
                <a:cs typeface="Times New Roman"/>
              </a:rPr>
              <a:t>eliminând</a:t>
            </a:r>
            <a:r>
              <a:rPr sz="1700">
                <a:latin typeface="Times New Roman"/>
                <a:ea typeface="Times New Roman"/>
                <a:cs typeface="Times New Roman"/>
              </a:rPr>
              <a:t> </a:t>
            </a:r>
            <a:r>
              <a:rPr sz="1700">
                <a:latin typeface="Times New Roman"/>
                <a:ea typeface="Times New Roman"/>
                <a:cs typeface="Times New Roman"/>
              </a:rPr>
              <a:t>cazurile</a:t>
            </a:r>
            <a:r>
              <a:rPr sz="1700">
                <a:latin typeface="Times New Roman"/>
                <a:ea typeface="Times New Roman"/>
                <a:cs typeface="Times New Roman"/>
              </a:rPr>
              <a:t> de "</a:t>
            </a:r>
            <a:r>
              <a:rPr sz="1700">
                <a:latin typeface="Times New Roman"/>
                <a:ea typeface="Times New Roman"/>
                <a:cs typeface="Times New Roman"/>
              </a:rPr>
              <a:t>indecizie</a:t>
            </a:r>
            <a:r>
              <a:rPr sz="1700">
                <a:latin typeface="Times New Roman"/>
                <a:ea typeface="Times New Roman"/>
                <a:cs typeface="Times New Roman"/>
              </a:rPr>
              <a:t>" </a:t>
            </a:r>
            <a:r>
              <a:rPr sz="1700">
                <a:latin typeface="Times New Roman"/>
                <a:ea typeface="Times New Roman"/>
                <a:cs typeface="Times New Roman"/>
              </a:rPr>
              <a:t>în</a:t>
            </a:r>
            <a:r>
              <a:rPr sz="1700">
                <a:latin typeface="Times New Roman"/>
                <a:ea typeface="Times New Roman"/>
                <a:cs typeface="Times New Roman"/>
              </a:rPr>
              <a:t> diagnostic.</a:t>
            </a:r>
          </a:p>
        </p:txBody>
      </p:sp>
    </p:spTree>
    <p:extLst>
      <p:ext uri="{BB962C8B-B14F-4D97-AF65-F5344CB8AC3E}">
        <p14:creationId xmlns:p14="http://schemas.microsoft.com/office/powerpoint/2010/main" val="8176854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3A0376-7C85-7924-2F34-CD7F81FBC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Modulul</a:t>
            </a:r>
            <a:r>
              <a:t> de </a:t>
            </a:r>
            <a:r>
              <a:t>Analiză</a:t>
            </a:r>
            <a:r>
              <a:t> </a:t>
            </a:r>
            <a:r>
              <a:t>Predictivă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F361CB-7B18-8B18-A16F-49CF396AB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3272" y="2449915"/>
            <a:ext cx="5062728" cy="7933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Integrare</a:t>
            </a:r>
            <a:r>
              <a:t> </a:t>
            </a:r>
            <a:r>
              <a:t>și</a:t>
            </a:r>
            <a:r>
              <a:t> </a:t>
            </a:r>
            <a:r>
              <a:t>Funcționare</a:t>
            </a:r>
            <a:r>
              <a:t> Back-End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2E4EF01-B16B-2E80-C3FE-9086C471ED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113198" y="3243262"/>
            <a:ext cx="4900506" cy="2632605"/>
          </a:xfrm>
        </p:spPr>
        <p:txBody>
          <a:bodyPr xmlns:a="http://schemas.openxmlformats.org/drawingml/2006/main">
            <a:normAutofit fontScale="62500" lnSpcReduction="20000"/>
          </a:bodyPr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Arhitectură</a:t>
            </a:r>
            <a:r>
              <a:rPr b="1"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latin typeface="Times New Roman"/>
                <a:ea typeface="Times New Roman"/>
                <a:cs typeface="Times New Roman"/>
              </a:rPr>
              <a:t>Decuplată</a:t>
            </a:r>
            <a:r>
              <a:rPr b="1">
                <a:latin typeface="Times New Roman"/>
                <a:ea typeface="Times New Roman"/>
                <a:cs typeface="Times New Roman"/>
              </a:rPr>
              <a:t>: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Modulul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predictiv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rulează</a:t>
            </a:r>
            <a:r>
              <a:rPr>
                <a:latin typeface="Times New Roman"/>
                <a:ea typeface="Times New Roman"/>
                <a:cs typeface="Times New Roman"/>
              </a:rPr>
              <a:t> direct </a:t>
            </a:r>
            <a:r>
              <a:rPr>
                <a:latin typeface="Times New Roman"/>
                <a:ea typeface="Times New Roman"/>
                <a:cs typeface="Times New Roman"/>
              </a:rPr>
              <a:t>în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fișa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pacientului</a:t>
            </a:r>
            <a:r>
              <a:rPr>
                <a:latin typeface="Times New Roman"/>
                <a:ea typeface="Times New Roman"/>
                <a:cs typeface="Times New Roman"/>
              </a:rPr>
              <a:t> din </a:t>
            </a:r>
            <a:r>
              <a:rPr>
                <a:latin typeface="Times New Roman"/>
                <a:ea typeface="Times New Roman"/>
                <a:cs typeface="Times New Roman"/>
              </a:rPr>
              <a:t>secțiunea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</a:rPr>
              <a:t>AI Center</a:t>
            </a:r>
            <a:r>
              <a:rPr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Comunicare</a:t>
            </a:r>
            <a:r>
              <a:rPr b="1">
                <a:latin typeface="Times New Roman"/>
                <a:ea typeface="Times New Roman"/>
                <a:cs typeface="Times New Roman"/>
              </a:rPr>
              <a:t> Inter-Server:</a:t>
            </a:r>
            <a:r>
              <a:rPr>
                <a:latin typeface="Times New Roman"/>
                <a:ea typeface="Times New Roman"/>
                <a:cs typeface="Times New Roman"/>
              </a:rPr>
              <a:t> La </a:t>
            </a:r>
            <a:r>
              <a:rPr>
                <a:latin typeface="Times New Roman"/>
                <a:ea typeface="Times New Roman"/>
                <a:cs typeface="Times New Roman"/>
              </a:rPr>
              <a:t>acțiunea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</a:rPr>
              <a:t>„Analyze with AI”</a:t>
            </a:r>
            <a:r>
              <a:rPr>
                <a:latin typeface="Times New Roman"/>
                <a:ea typeface="Times New Roman"/>
                <a:cs typeface="Times New Roman"/>
              </a:rPr>
              <a:t>, </a:t>
            </a:r>
            <a:r>
              <a:rPr>
                <a:latin typeface="Times New Roman"/>
                <a:ea typeface="Times New Roman"/>
                <a:cs typeface="Times New Roman"/>
              </a:rPr>
              <a:t>nucleul</a:t>
            </a:r>
            <a:r>
              <a:rPr>
                <a:latin typeface="Times New Roman"/>
                <a:ea typeface="Times New Roman"/>
                <a:cs typeface="Times New Roman"/>
              </a:rPr>
              <a:t> .NET </a:t>
            </a:r>
            <a:r>
              <a:rPr>
                <a:latin typeface="Times New Roman"/>
                <a:ea typeface="Times New Roman"/>
                <a:cs typeface="Times New Roman"/>
              </a:rPr>
              <a:t>transmite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asincron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imaginea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către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microserviciul</a:t>
            </a:r>
            <a:r>
              <a:rPr>
                <a:latin typeface="Times New Roman"/>
                <a:ea typeface="Times New Roman"/>
                <a:cs typeface="Times New Roman"/>
              </a:rPr>
              <a:t> Python </a:t>
            </a:r>
            <a:r>
              <a:rPr>
                <a:latin typeface="Times New Roman"/>
                <a:ea typeface="Times New Roman"/>
                <a:cs typeface="Times New Roman"/>
              </a:rPr>
              <a:t>FastAPI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prin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cereri</a:t>
            </a:r>
            <a:r>
              <a:rPr>
                <a:latin typeface="Times New Roman"/>
                <a:ea typeface="Times New Roman"/>
                <a:cs typeface="Times New Roman"/>
              </a:rPr>
              <a:t> HTTP POST.</a:t>
            </a:r>
          </a:p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Procesare</a:t>
            </a:r>
            <a:r>
              <a:rPr b="1">
                <a:latin typeface="Times New Roman"/>
                <a:ea typeface="Times New Roman"/>
                <a:cs typeface="Times New Roman"/>
              </a:rPr>
              <a:t> Pipeline:</a:t>
            </a:r>
            <a:r>
              <a:rPr>
                <a:latin typeface="Times New Roman"/>
                <a:ea typeface="Times New Roman"/>
                <a:cs typeface="Times New Roman"/>
              </a:rPr>
              <a:t> Serviciul Python </a:t>
            </a:r>
            <a:r>
              <a:rPr>
                <a:latin typeface="Times New Roman"/>
                <a:ea typeface="Times New Roman"/>
                <a:cs typeface="Times New Roman"/>
              </a:rPr>
              <a:t>preia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mamografia</a:t>
            </a:r>
            <a:r>
              <a:rPr>
                <a:latin typeface="Times New Roman"/>
                <a:ea typeface="Times New Roman"/>
                <a:cs typeface="Times New Roman"/>
              </a:rPr>
              <a:t>, </a:t>
            </a:r>
            <a:r>
              <a:rPr>
                <a:latin typeface="Times New Roman"/>
                <a:ea typeface="Times New Roman"/>
                <a:cs typeface="Times New Roman"/>
              </a:rPr>
              <a:t>execută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standardizarea</a:t>
            </a:r>
            <a:r>
              <a:rPr>
                <a:latin typeface="Times New Roman"/>
                <a:ea typeface="Times New Roman"/>
                <a:cs typeface="Times New Roman"/>
              </a:rPr>
              <a:t> la 224x224 </a:t>
            </a:r>
            <a:r>
              <a:rPr>
                <a:latin typeface="Times New Roman"/>
                <a:ea typeface="Times New Roman"/>
                <a:cs typeface="Times New Roman"/>
              </a:rPr>
              <a:t>pixeli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și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rulează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inferența</a:t>
            </a:r>
            <a:r>
              <a:rPr>
                <a:latin typeface="Times New Roman"/>
                <a:ea typeface="Times New Roman"/>
                <a:cs typeface="Times New Roman"/>
              </a:rPr>
              <a:t> pe </a:t>
            </a:r>
            <a:r>
              <a:rPr>
                <a:latin typeface="Times New Roman"/>
                <a:ea typeface="Times New Roman"/>
                <a:cs typeface="Times New Roman"/>
              </a:rPr>
              <a:t>rețeaua</a:t>
            </a:r>
            <a:r>
              <a:rPr>
                <a:latin typeface="Times New Roman"/>
                <a:ea typeface="Times New Roman"/>
                <a:cs typeface="Times New Roman"/>
              </a:rPr>
              <a:t> EfficientNet-V2-S.</a:t>
            </a:r>
          </a:p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Salvare</a:t>
            </a:r>
            <a:r>
              <a:rPr b="1"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latin typeface="Times New Roman"/>
                <a:ea typeface="Times New Roman"/>
                <a:cs typeface="Times New Roman"/>
              </a:rPr>
              <a:t>Structurată</a:t>
            </a:r>
            <a:r>
              <a:rPr b="1">
                <a:latin typeface="Times New Roman"/>
                <a:ea typeface="Times New Roman"/>
                <a:cs typeface="Times New Roman"/>
              </a:rPr>
              <a:t>: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Rezultatul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clasificării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este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returnat</a:t>
            </a:r>
            <a:r>
              <a:rPr>
                <a:latin typeface="Times New Roman"/>
                <a:ea typeface="Times New Roman"/>
                <a:cs typeface="Times New Roman"/>
              </a:rPr>
              <a:t> ca </a:t>
            </a:r>
            <a:r>
              <a:rPr>
                <a:latin typeface="Times New Roman"/>
                <a:ea typeface="Times New Roman"/>
                <a:cs typeface="Times New Roman"/>
              </a:rPr>
              <a:t>obiect</a:t>
            </a:r>
            <a:r>
              <a:rPr>
                <a:latin typeface="Times New Roman"/>
                <a:ea typeface="Times New Roman"/>
                <a:cs typeface="Times New Roman"/>
              </a:rPr>
              <a:t> JSON </a:t>
            </a:r>
            <a:r>
              <a:rPr>
                <a:latin typeface="Times New Roman"/>
                <a:ea typeface="Times New Roman"/>
                <a:cs typeface="Times New Roman"/>
              </a:rPr>
              <a:t>și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persistat</a:t>
            </a:r>
            <a:r>
              <a:rPr>
                <a:latin typeface="Times New Roman"/>
                <a:ea typeface="Times New Roman"/>
                <a:cs typeface="Times New Roman"/>
              </a:rPr>
              <a:t> automat </a:t>
            </a:r>
            <a:r>
              <a:rPr>
                <a:latin typeface="Times New Roman"/>
                <a:ea typeface="Times New Roman"/>
                <a:cs typeface="Times New Roman"/>
              </a:rPr>
              <a:t>în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baza</a:t>
            </a:r>
            <a:r>
              <a:rPr>
                <a:latin typeface="Times New Roman"/>
                <a:ea typeface="Times New Roman"/>
                <a:cs typeface="Times New Roman"/>
              </a:rPr>
              <a:t> de date SQL Server.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32B3550-9299-C56B-1AAC-3E86EF7393E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80670" y="2658533"/>
            <a:ext cx="5062728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Medical </a:t>
            </a:r>
            <a:r>
              <a:t>și</a:t>
            </a:r>
            <a:r>
              <a:t> </a:t>
            </a:r>
            <a:r>
              <a:t>Cazuri</a:t>
            </a:r>
            <a:r>
              <a:t> la </a:t>
            </a:r>
            <a:r>
              <a:t>Limită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0A8932C-695B-F75D-6BD3-427477FA97E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534" y="3243262"/>
            <a:ext cx="5049864" cy="2632605"/>
          </a:xfrm>
        </p:spPr>
        <p:txBody>
          <a:bodyPr xmlns:a="http://schemas.openxmlformats.org/drawingml/2006/main">
            <a:normAutofit fontScale="62500" lnSpcReduction="20000"/>
          </a:bodyPr>
          <a:lstStyle xmlns:a="http://schemas.openxmlformats.org/drawingml/2006/main"/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Suport</a:t>
            </a:r>
            <a:r>
              <a:rPr b="1"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latin typeface="Times New Roman"/>
                <a:ea typeface="Times New Roman"/>
                <a:cs typeface="Times New Roman"/>
              </a:rPr>
              <a:t>Decizional</a:t>
            </a:r>
            <a:r>
              <a:rPr b="1">
                <a:latin typeface="Times New Roman"/>
                <a:ea typeface="Times New Roman"/>
                <a:cs typeface="Times New Roman"/>
              </a:rPr>
              <a:t> (Human-in-the-Loop):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Sistemul</a:t>
            </a:r>
            <a:r>
              <a:rPr>
                <a:latin typeface="Times New Roman"/>
                <a:ea typeface="Times New Roman"/>
                <a:cs typeface="Times New Roman"/>
              </a:rPr>
              <a:t> nu </a:t>
            </a:r>
            <a:r>
              <a:rPr>
                <a:latin typeface="Times New Roman"/>
                <a:ea typeface="Times New Roman"/>
                <a:cs typeface="Times New Roman"/>
              </a:rPr>
              <a:t>înlocuiește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decizia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clinică</a:t>
            </a:r>
            <a:r>
              <a:rPr>
                <a:latin typeface="Times New Roman"/>
                <a:ea typeface="Times New Roman"/>
                <a:cs typeface="Times New Roman"/>
              </a:rPr>
              <a:t>; </a:t>
            </a:r>
            <a:r>
              <a:rPr>
                <a:latin typeface="Times New Roman"/>
                <a:ea typeface="Times New Roman"/>
                <a:cs typeface="Times New Roman"/>
              </a:rPr>
              <a:t>medicul</a:t>
            </a:r>
            <a:r>
              <a:rPr>
                <a:latin typeface="Times New Roman"/>
                <a:ea typeface="Times New Roman"/>
                <a:cs typeface="Times New Roman"/>
              </a:rPr>
              <a:t> are </a:t>
            </a:r>
            <a:r>
              <a:rPr>
                <a:latin typeface="Times New Roman"/>
                <a:ea typeface="Times New Roman"/>
                <a:cs typeface="Times New Roman"/>
              </a:rPr>
              <a:t>opțiuni</a:t>
            </a:r>
            <a:r>
              <a:rPr>
                <a:latin typeface="Times New Roman"/>
                <a:ea typeface="Times New Roman"/>
                <a:cs typeface="Times New Roman"/>
              </a:rPr>
              <a:t> dedicate de </a:t>
            </a:r>
            <a:r>
              <a:rPr i="1">
                <a:latin typeface="Times New Roman"/>
                <a:ea typeface="Times New Roman"/>
                <a:cs typeface="Times New Roman"/>
              </a:rPr>
              <a:t>„Validate Manually”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sau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</a:rPr>
              <a:t>„Reject”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pentru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confirmarea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diagnosticului</a:t>
            </a:r>
            <a:r>
              <a:rPr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Tratarea</a:t>
            </a:r>
            <a:r>
              <a:rPr b="1"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latin typeface="Times New Roman"/>
                <a:ea typeface="Times New Roman"/>
                <a:cs typeface="Times New Roman"/>
              </a:rPr>
              <a:t>Datelor</a:t>
            </a:r>
            <a:r>
              <a:rPr b="1">
                <a:latin typeface="Times New Roman"/>
                <a:ea typeface="Times New Roman"/>
                <a:cs typeface="Times New Roman"/>
              </a:rPr>
              <a:t> Externe: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Alerta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 i="1">
                <a:latin typeface="Times New Roman"/>
                <a:ea typeface="Times New Roman"/>
                <a:cs typeface="Times New Roman"/>
              </a:rPr>
              <a:t>„No dataset ground-truth available for this upload”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gestionează</a:t>
            </a:r>
            <a:r>
              <a:rPr>
                <a:latin typeface="Times New Roman"/>
                <a:ea typeface="Times New Roman"/>
                <a:cs typeface="Times New Roman"/>
              </a:rPr>
              <a:t> elegant </a:t>
            </a:r>
            <a:r>
              <a:rPr>
                <a:latin typeface="Times New Roman"/>
                <a:ea typeface="Times New Roman"/>
                <a:cs typeface="Times New Roman"/>
              </a:rPr>
              <a:t>încărcarea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unei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imagini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noi</a:t>
            </a:r>
            <a:r>
              <a:rPr>
                <a:latin typeface="Times New Roman"/>
                <a:ea typeface="Times New Roman"/>
                <a:cs typeface="Times New Roman"/>
              </a:rPr>
              <a:t>, custom, din afara </a:t>
            </a:r>
            <a:r>
              <a:rPr>
                <a:latin typeface="Times New Roman"/>
                <a:ea typeface="Times New Roman"/>
                <a:cs typeface="Times New Roman"/>
              </a:rPr>
              <a:t>setului</a:t>
            </a:r>
            <a:r>
              <a:rPr>
                <a:latin typeface="Times New Roman"/>
                <a:ea typeface="Times New Roman"/>
                <a:cs typeface="Times New Roman"/>
              </a:rPr>
              <a:t> de date </a:t>
            </a:r>
            <a:r>
              <a:rPr>
                <a:latin typeface="Times New Roman"/>
                <a:ea typeface="Times New Roman"/>
                <a:cs typeface="Times New Roman"/>
              </a:rPr>
              <a:t>istoric</a:t>
            </a:r>
            <a:r>
              <a:rPr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r>
              <a:rPr b="1">
                <a:latin typeface="Times New Roman"/>
                <a:ea typeface="Times New Roman"/>
                <a:cs typeface="Times New Roman"/>
              </a:rPr>
              <a:t>Notificări</a:t>
            </a:r>
            <a:r>
              <a:rPr b="1">
                <a:latin typeface="Times New Roman"/>
                <a:ea typeface="Times New Roman"/>
                <a:cs typeface="Times New Roman"/>
              </a:rPr>
              <a:t> </a:t>
            </a:r>
            <a:r>
              <a:rPr b="1">
                <a:latin typeface="Times New Roman"/>
                <a:ea typeface="Times New Roman"/>
                <a:cs typeface="Times New Roman"/>
              </a:rPr>
              <a:t>în</a:t>
            </a:r>
            <a:r>
              <a:rPr b="1">
                <a:latin typeface="Times New Roman"/>
                <a:ea typeface="Times New Roman"/>
                <a:cs typeface="Times New Roman"/>
              </a:rPr>
              <a:t> Timp Real: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Statusul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analizei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și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raportul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generat</a:t>
            </a:r>
            <a:r>
              <a:rPr>
                <a:latin typeface="Times New Roman"/>
                <a:ea typeface="Times New Roman"/>
                <a:cs typeface="Times New Roman"/>
              </a:rPr>
              <a:t> sunt </a:t>
            </a:r>
            <a:r>
              <a:rPr>
                <a:latin typeface="Times New Roman"/>
                <a:ea typeface="Times New Roman"/>
                <a:cs typeface="Times New Roman"/>
              </a:rPr>
              <a:t>transmise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instantaneu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către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portalul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pacientului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prin</a:t>
            </a:r>
            <a:r>
              <a:rPr>
                <a:latin typeface="Times New Roman"/>
                <a:ea typeface="Times New Roman"/>
                <a:cs typeface="Times New Roman"/>
              </a:rPr>
              <a:t> </a:t>
            </a:r>
            <a:r>
              <a:rPr>
                <a:latin typeface="Times New Roman"/>
                <a:ea typeface="Times New Roman"/>
                <a:cs typeface="Times New Roman"/>
              </a:rPr>
              <a:t>WebSockets</a:t>
            </a:r>
            <a:r>
              <a:rPr>
                <a:latin typeface="Times New Roman"/>
                <a:ea typeface="Times New Roman"/>
                <a:cs typeface="Times New Roman"/>
              </a:rPr>
              <a:t> (</a:t>
            </a:r>
            <a:r>
              <a:rPr>
                <a:latin typeface="Times New Roman"/>
                <a:ea typeface="Times New Roman"/>
                <a:cs typeface="Times New Roman"/>
              </a:rPr>
              <a:t>SignalR</a:t>
            </a:r>
            <a:r>
              <a:rPr>
                <a:latin typeface="Times New Roman"/>
                <a:ea typeface="Times New Roman"/>
                <a:cs typeface="Times New Roman"/>
              </a:rPr>
              <a:t>).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5010857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A26B58-B72D-4BD3-49D7-132669852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Exemple</a:t>
            </a:r>
            <a:r>
              <a:t> de </a:t>
            </a:r>
            <a:r>
              <a:t>Rulare</a:t>
            </a:r>
            <a:r>
              <a:t> Model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B572C3-0DDA-558C-2439-C9BFA81C67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MALIGNANT</a:t>
            </a:r>
            <a:r>
              <a:t> </a:t>
            </a:r>
          </a:p>
        </p:txBody>
      </p:sp>
      <p:pic>
        <p:nvPicPr>
          <p:cNvPr id="10" name="Content Placeholder 8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2becc2cc028645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" y="3393446"/>
            <a:ext cx="4718050" cy="2331709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2E5AA8C-682A-B8F1-69EE-8AFBB5CEAA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BENIGN</a:t>
            </a:r>
          </a:p>
        </p:txBody>
      </p:sp>
      <p:pic>
        <p:nvPicPr>
          <p:cNvPr id="12" name="Content Placeholder 10"/>
          <p:cNvPicPr>
            <a:picLocks xmlns:a="http://schemas.openxmlformats.org/drawingml/2006/main" noChangeAspect="1"/>
          </p:cNvPicPr>
          <p:nvPr>
            <p:ph idx="4"/>
          </p:nvPr>
        </p:nvPicPr>
        <p:blipFill>
          <a:blip xmlns:r="http://schemas.openxmlformats.org/officeDocument/2006/relationships" xmlns:a="http://schemas.openxmlformats.org/drawingml/2006/main" r:embed="R81ede1602fdb4f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0138" y="3389710"/>
            <a:ext cx="4718050" cy="2339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728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E6B54C-3F90-10E7-28B7-78F8579E9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b="1"/>
              <a:t/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F4DB13-8C8A-858D-2DE7-AE8A6E823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6142" y="2343236"/>
            <a:ext cx="5158740" cy="7381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9A3084E-ED69-C446-A383-C12560AD063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98334" y="2505118"/>
            <a:ext cx="4856138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7FD496-A4BB-E8BE-314D-A2BB2BB61C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059180" y="3174683"/>
            <a:ext cx="5312664" cy="301275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F7C8B7FE-EBBC-AD98-A1CF-7AD25390CB0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498334" y="3243262"/>
            <a:ext cx="4718304" cy="263260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7F289-9F7D-4509-8D4B-E7202B4F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"/>
            <a:ext cx="11239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382E5-E55B-4D85-BC0F-A6363D05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1F1D1B"/>
                </a:solidFill>
              </a:defRPr>
            </a:pPr>
            <a:r>
              <a:rPr sz="3150" b="0" i="0">
                <a:solidFill>
                  <a:srgbClr val="1F1D1B"/>
                </a:solidFill>
              </a:rPr>
              <a:t>Referințe și rezultate în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D976A-FEF1-467C-89F2-D20A9623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1239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5"/>
          </a:solidFill>
          <a:ln xmlns:a="http://schemas.openxmlformats.org/drawingml/2006/main" w="0">
            <a:solidFill>
              <a:srgbClr val="F8F8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F6D4D-480B-442F-B0D2-80FAB030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33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Rezultate-cheie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48A34-DC18-4FB7-AF4D-098139CB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1D1B"/>
                </a:solidFill>
              </a:defRPr>
            </a:pPr>
            <a:r>
              <a:rPr sz="1200" b="0" i="0">
                <a:solidFill>
                  <a:srgbClr val="1F1D1B"/>
                </a:solidFill>
              </a:rPr>
              <a:t>• Latență mediană: 1.50 ms / imagine; throughput: 205.12 imagini / secundă pe CUDA.</a:t>
            </a:r>
          </a:p>
          <a:p xmlns:a="http://schemas.openxmlformats.org/drawingml/2006/main">
            <a:pPr algn="l">
              <a:defRPr sz="1200" b="0" i="0">
                <a:solidFill>
                  <a:srgbClr val="1F1D1B"/>
                </a:solidFill>
              </a:defRPr>
            </a:pPr>
            <a:r>
              <a:rPr sz="1200" b="0" i="0">
                <a:solidFill>
                  <a:srgbClr val="1F1D1B"/>
                </a:solidFill>
              </a:rPr>
              <a:t>• Modelul EfficientNet-V2-S obține 1.0000 pentru acuratețe, F1 și AUC pe setul de validare.</a:t>
            </a:r>
          </a:p>
          <a:p xmlns:a="http://schemas.openxmlformats.org/drawingml/2006/main">
            <a:pPr algn="l">
              <a:defRPr sz="1200" b="0" i="0">
                <a:solidFill>
                  <a:srgbClr val="1F1D1B"/>
                </a:solidFill>
              </a:defRPr>
            </a:pPr>
            <a:r>
              <a:rPr sz="1200" b="0" i="0">
                <a:solidFill>
                  <a:srgbClr val="1F1D1B"/>
                </a:solidFill>
              </a:rPr>
              <a:t>• Cazurile mai dificile apar la augmentări extreme: zgomot Gaussian, distorsiuni de perspectivă și contrast redus.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6A7C6-85B8-4AA9-8671-1E1899F1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9517"/>
                </a:solidFill>
              </a:defRPr>
            </a:pPr>
            <a:r>
              <a:rPr sz="1875" b="0" i="0">
                <a:solidFill>
                  <a:srgbClr val="6F9517"/>
                </a:solidFill>
              </a:rPr>
              <a:t>Linkuri folosite ca referințe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D1D16-D53D-420A-B96A-9406D8AC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1. Mammogram Mastery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5A170-2979-4682-A536-5D70E98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https://data.mendeley.com/datasets/fvjhtskg93/1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6CF00-F03C-49EA-A59A-79A6734C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2. EfficientNetV2 paper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C1D60-8881-47D2-9B0C-19BDB6DD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480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https://arxiv.org/abs/2104.00298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0970C-E0D7-4052-A53E-DDB0BDB7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3. PyTorch documentation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AA4BC-1618-47AA-9E27-44B6F5FE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https://pytorch.org/docs/stable/index.html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114B4-C6E4-4805-91BE-FE20EE0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4. FastAPI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3D6C8-6D25-460C-BC64-FF8B796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https://fastapi.tiangolo.com/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41EBE-38BF-489B-AEA9-FE7B519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5. ASP.NET Core / Razor Pages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BD8CB-C522-45BB-9AB7-21FF08D0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https://learn.microsoft.com/en-us/aspnet/core/razor-pages/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F50C5-EA3A-4287-88AC-B7BB1ADB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6. Entity Framework 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2D78D-7E4A-4110-AAF7-66D2BD9B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https://learn.microsoft.com/en-us/ef/core/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6C7D7-CE16-4DA7-B742-AA93CE75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1D1B"/>
                </a:solidFill>
              </a:defRPr>
            </a:pPr>
            <a:r>
              <a:rPr sz="1050" b="1" i="0">
                <a:solidFill>
                  <a:srgbClr val="1F1D1B"/>
                </a:solidFill>
              </a:rPr>
              <a:t>7. ASP.NET Core SignalR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03028-02C2-4CDD-A7C5-8F375EC8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2D6CDF"/>
                </a:solidFill>
              </a:defRPr>
            </a:pPr>
            <a:r>
              <a:rPr sz="788" b="0" i="0">
                <a:solidFill>
                  <a:srgbClr val="2D6CDF"/>
                </a:solidFill>
              </a:rPr>
              <a:t>https://learn.microsoft.com/en-us/aspnet/core/signalr/introduction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5E5A8-A243-4C6C-9734-908780BF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4429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7D9"/>
          </a:solidFill>
          <a:ln xmlns:a="http://schemas.openxmlformats.org/drawingml/2006/main" w="11430">
            <a:solidFill>
              <a:srgbClr val="9AC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Mesaj pentru susținere</a:t>
            </a:r>
          </a:p>
          <a:p xmlns:a="http://schemas.openxmlformats.org/drawingml/2006/main">
            <a:pPr algn="ctr">
              <a:defRPr sz="1200" b="1">
                <a:solidFill>
                  <a:srgbClr val="1F1D1B"/>
                </a:solidFill>
              </a:defRPr>
            </a:pPr>
            <a:r>
              <a:rPr sz="1200" b="1">
                <a:solidFill>
                  <a:srgbClr val="1F1D1B"/>
                </a:solidFill>
              </a:rPr>
              <a:t>Aplicația nu propune înlocuirea medicului, ci un flux digital în care AI-ul oferă suport rapid, iar validarea rămâne la specialist.</a:t>
            </a:r>
          </a:p>
        </p:txBody>
      </p:sp>
    </p:spTree>
    <p:extLst>
      <p:ext uri="{BB962C8B-B14F-4D97-AF65-F5344CB8AC3E}">
        <p14:creationId xmlns:p14="http://schemas.microsoft.com/office/powerpoint/2010/main" val="11277872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82A649-9236-2D1F-3D30-3A7FB2450E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5509" y="704088"/>
            <a:ext cx="10018713" cy="17525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Concluzii</a:t>
            </a:r>
            <a:r>
              <a:t> </a:t>
            </a:r>
            <a:r>
              <a:t>și</a:t>
            </a:r>
            <a:r>
              <a:t> </a:t>
            </a:r>
            <a:r>
              <a:t>Direcții</a:t>
            </a:r>
            <a:r>
              <a:t> </a:t>
            </a:r>
            <a:r>
              <a:t>Viitoare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124077-E1CB-1E78-4F77-8138A7B035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84311" y="2280315"/>
            <a:ext cx="4890555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Realizări</a:t>
            </a:r>
            <a:r>
              <a:t> </a:t>
            </a:r>
            <a:r>
              <a:t>și</a:t>
            </a:r>
            <a:r>
              <a:t> </a:t>
            </a:r>
            <a:r>
              <a:t>Aspecte</a:t>
            </a:r>
            <a:r>
              <a:t> </a:t>
            </a:r>
            <a:r>
              <a:t>Importante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B5F56A-79E5-E063-BB83-871F688771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84311" y="2998532"/>
            <a:ext cx="4895056" cy="3155380"/>
          </a:xfrm>
        </p:spPr>
        <p:txBody>
          <a:bodyPr xmlns:a="http://schemas.openxmlformats.org/drawingml/2006/main">
            <a:normAutofit fontScale="25000" lnSpcReduction="20000"/>
          </a:bodyPr>
          <a:lstStyle xmlns:a="http://schemas.openxmlformats.org/drawingml/2006/main"/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>Digitalizare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 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Integrată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:</a:t>
            </a:r>
            <a:r>
              <a:rPr sz="6000">
                <a:latin typeface="Times New Roman"/>
                <a:ea typeface="Times New Roman"/>
                <a:cs typeface="Times New Roman"/>
              </a:rPr>
              <a:t> S-a </a:t>
            </a:r>
            <a:r>
              <a:rPr sz="6000">
                <a:latin typeface="Times New Roman"/>
                <a:ea typeface="Times New Roman"/>
                <a:cs typeface="Times New Roman"/>
              </a:rPr>
              <a:t>demonstrat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dezvoltarea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unei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soluții</a:t>
            </a:r>
            <a:r>
              <a:rPr sz="6000">
                <a:latin typeface="Times New Roman"/>
                <a:ea typeface="Times New Roman"/>
                <a:cs typeface="Times New Roman"/>
              </a:rPr>
              <a:t> software </a:t>
            </a:r>
            <a:r>
              <a:rPr sz="6000">
                <a:latin typeface="Times New Roman"/>
                <a:ea typeface="Times New Roman"/>
                <a:cs typeface="Times New Roman"/>
              </a:rPr>
              <a:t>unitare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ce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elimină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fragmentarea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dintre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fluxurile</a:t>
            </a:r>
            <a:r>
              <a:rPr sz="6000">
                <a:latin typeface="Times New Roman"/>
                <a:ea typeface="Times New Roman"/>
                <a:cs typeface="Times New Roman"/>
              </a:rPr>
              <a:t> administrative </a:t>
            </a:r>
            <a:r>
              <a:rPr sz="6000">
                <a:latin typeface="Times New Roman"/>
                <a:ea typeface="Times New Roman"/>
                <a:cs typeface="Times New Roman"/>
              </a:rPr>
              <a:t>clinice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și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analiza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imagistică</a:t>
            </a:r>
            <a:r>
              <a:rPr sz="60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>Performanță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 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și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 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Convergență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: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</a:p>
          <a:p xmlns:a="http://schemas.openxmlformats.org/drawingml/2006/main">
            <a:pPr>
              <a:buNone/>
            </a:pPr>
            <a:r>
              <a:rPr sz="5600">
                <a:latin typeface="Times New Roman"/>
                <a:ea typeface="Times New Roman"/>
                <a:cs typeface="Times New Roman"/>
              </a:rPr>
              <a:t>Modelul</a:t>
            </a:r>
            <a:r>
              <a:rPr sz="5600">
                <a:latin typeface="Times New Roman"/>
                <a:ea typeface="Times New Roman"/>
                <a:cs typeface="Times New Roman"/>
              </a:rPr>
              <a:t> EfficientNet-V2-S  a </a:t>
            </a:r>
            <a:r>
              <a:rPr sz="5600">
                <a:latin typeface="Times New Roman"/>
                <a:ea typeface="Times New Roman"/>
                <a:cs typeface="Times New Roman"/>
              </a:rPr>
              <a:t>atins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performanțe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maxime</a:t>
            </a:r>
            <a:r>
              <a:rPr sz="5600">
                <a:latin typeface="Times New Roman"/>
                <a:ea typeface="Times New Roman"/>
                <a:cs typeface="Times New Roman"/>
              </a:rPr>
              <a:t> pe </a:t>
            </a:r>
            <a:r>
              <a:rPr sz="5600">
                <a:latin typeface="Times New Roman"/>
                <a:ea typeface="Times New Roman"/>
                <a:cs typeface="Times New Roman"/>
              </a:rPr>
              <a:t>setul</a:t>
            </a:r>
            <a:r>
              <a:rPr sz="5600">
                <a:latin typeface="Times New Roman"/>
                <a:ea typeface="Times New Roman"/>
                <a:cs typeface="Times New Roman"/>
              </a:rPr>
              <a:t> de </a:t>
            </a:r>
            <a:r>
              <a:rPr sz="5600">
                <a:latin typeface="Times New Roman"/>
                <a:ea typeface="Times New Roman"/>
                <a:cs typeface="Times New Roman"/>
              </a:rPr>
              <a:t>validare</a:t>
            </a:r>
            <a:r>
              <a:rPr sz="5600">
                <a:latin typeface="Times New Roman"/>
                <a:ea typeface="Times New Roman"/>
                <a:cs typeface="Times New Roman"/>
              </a:rPr>
              <a:t> disjunct </a:t>
            </a:r>
            <a:r>
              <a:rPr sz="5600">
                <a:latin typeface="Times New Roman"/>
                <a:ea typeface="Times New Roman"/>
                <a:cs typeface="Times New Roman"/>
              </a:rPr>
              <a:t>prin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aplicarea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regularizării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stricte</a:t>
            </a:r>
            <a:r>
              <a:rPr sz="56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pPr>
              <a:buNone/>
            </a:pPr>
            <a:r>
              <a:rPr sz="5600" b="1">
                <a:latin typeface="Times New Roman"/>
                <a:ea typeface="Times New Roman"/>
                <a:cs typeface="Times New Roman"/>
              </a:rPr>
              <a:t>Control Uman </a:t>
            </a:r>
            <a:r>
              <a:rPr sz="5600" b="1">
                <a:latin typeface="Times New Roman"/>
                <a:ea typeface="Times New Roman"/>
                <a:cs typeface="Times New Roman"/>
              </a:rPr>
              <a:t>Garantat</a:t>
            </a:r>
            <a:r>
              <a:rPr sz="5600" b="1">
                <a:latin typeface="Times New Roman"/>
                <a:ea typeface="Times New Roman"/>
                <a:cs typeface="Times New Roman"/>
              </a:rPr>
              <a:t>: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Platforma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respectă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paradigma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 i="1">
                <a:latin typeface="Times New Roman"/>
                <a:ea typeface="Times New Roman"/>
                <a:cs typeface="Times New Roman"/>
              </a:rPr>
              <a:t>Human-in-the-Loop</a:t>
            </a:r>
            <a:r>
              <a:rPr sz="5600">
                <a:latin typeface="Times New Roman"/>
                <a:ea typeface="Times New Roman"/>
                <a:cs typeface="Times New Roman"/>
              </a:rPr>
              <a:t>, </a:t>
            </a:r>
            <a:r>
              <a:rPr sz="5600">
                <a:latin typeface="Times New Roman"/>
                <a:ea typeface="Times New Roman"/>
                <a:cs typeface="Times New Roman"/>
              </a:rPr>
              <a:t>lăsând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decizia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clinică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finală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și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validarea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exclusiv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în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responsabilitatea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medicului</a:t>
            </a:r>
            <a:r>
              <a:rPr sz="5600">
                <a:latin typeface="Times New Roman"/>
                <a:ea typeface="Times New Roman"/>
                <a:cs typeface="Times New Roman"/>
              </a:rPr>
              <a:t> specialist. </a:t>
            </a:r>
          </a:p>
          <a:p xmlns:a="http://schemas.openxmlformats.org/drawingml/2006/main">
            <a:pPr>
              <a:buNone/>
            </a:pPr>
            <a:r>
              <a:rPr sz="5600" b="1">
                <a:latin typeface="Times New Roman"/>
                <a:ea typeface="Times New Roman"/>
                <a:cs typeface="Times New Roman"/>
              </a:rPr>
              <a:t>Sinergie</a:t>
            </a:r>
            <a:r>
              <a:rPr sz="5600" b="1">
                <a:latin typeface="Times New Roman"/>
                <a:ea typeface="Times New Roman"/>
                <a:cs typeface="Times New Roman"/>
              </a:rPr>
              <a:t> </a:t>
            </a:r>
            <a:r>
              <a:rPr sz="5600" b="1">
                <a:latin typeface="Times New Roman"/>
                <a:ea typeface="Times New Roman"/>
                <a:cs typeface="Times New Roman"/>
              </a:rPr>
              <a:t>Tehnologică</a:t>
            </a:r>
            <a:r>
              <a:rPr sz="5600" b="1">
                <a:latin typeface="Times New Roman"/>
                <a:ea typeface="Times New Roman"/>
                <a:cs typeface="Times New Roman"/>
              </a:rPr>
              <a:t>: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Integrare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stabilă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și</a:t>
            </a:r>
            <a:r>
              <a:rPr sz="5600">
                <a:latin typeface="Times New Roman"/>
                <a:ea typeface="Times New Roman"/>
                <a:cs typeface="Times New Roman"/>
              </a:rPr>
              <a:t> cross-platform </a:t>
            </a:r>
            <a:r>
              <a:rPr sz="5600">
                <a:latin typeface="Times New Roman"/>
                <a:ea typeface="Times New Roman"/>
                <a:cs typeface="Times New Roman"/>
              </a:rPr>
              <a:t>între</a:t>
            </a:r>
            <a:r>
              <a:rPr sz="5600">
                <a:latin typeface="Times New Roman"/>
                <a:ea typeface="Times New Roman"/>
                <a:cs typeface="Times New Roman"/>
              </a:rPr>
              <a:t> un backend robust </a:t>
            </a:r>
            <a:r>
              <a:rPr sz="5600">
                <a:latin typeface="Times New Roman"/>
                <a:ea typeface="Times New Roman"/>
                <a:cs typeface="Times New Roman"/>
              </a:rPr>
              <a:t>în</a:t>
            </a:r>
            <a:r>
              <a:rPr sz="5600">
                <a:latin typeface="Times New Roman"/>
                <a:ea typeface="Times New Roman"/>
                <a:cs typeface="Times New Roman"/>
              </a:rPr>
              <a:t> .NET 9 </a:t>
            </a:r>
            <a:r>
              <a:rPr sz="5600">
                <a:latin typeface="Times New Roman"/>
                <a:ea typeface="Times New Roman"/>
                <a:cs typeface="Times New Roman"/>
              </a:rPr>
              <a:t>și</a:t>
            </a:r>
            <a:r>
              <a:rPr sz="5600">
                <a:latin typeface="Times New Roman"/>
                <a:ea typeface="Times New Roman"/>
                <a:cs typeface="Times New Roman"/>
              </a:rPr>
              <a:t> un </a:t>
            </a:r>
            <a:r>
              <a:rPr sz="5600">
                <a:latin typeface="Times New Roman"/>
                <a:ea typeface="Times New Roman"/>
                <a:cs typeface="Times New Roman"/>
              </a:rPr>
              <a:t>microserviciu</a:t>
            </a:r>
            <a:r>
              <a:rPr sz="5600">
                <a:latin typeface="Times New Roman"/>
                <a:ea typeface="Times New Roman"/>
                <a:cs typeface="Times New Roman"/>
              </a:rPr>
              <a:t> </a:t>
            </a:r>
            <a:r>
              <a:rPr sz="5600">
                <a:latin typeface="Times New Roman"/>
                <a:ea typeface="Times New Roman"/>
                <a:cs typeface="Times New Roman"/>
              </a:rPr>
              <a:t>asincron</a:t>
            </a:r>
            <a:r>
              <a:rPr sz="5600">
                <a:latin typeface="Times New Roman"/>
                <a:ea typeface="Times New Roman"/>
                <a:cs typeface="Times New Roman"/>
              </a:rPr>
              <a:t> de AI </a:t>
            </a:r>
            <a:r>
              <a:rPr sz="5600">
                <a:latin typeface="Times New Roman"/>
                <a:ea typeface="Times New Roman"/>
                <a:cs typeface="Times New Roman"/>
              </a:rPr>
              <a:t>în</a:t>
            </a:r>
            <a:r>
              <a:rPr sz="5600">
                <a:latin typeface="Times New Roman"/>
                <a:ea typeface="Times New Roman"/>
                <a:cs typeface="Times New Roman"/>
              </a:rPr>
              <a:t> Python </a:t>
            </a:r>
            <a:r>
              <a:rPr sz="5600">
                <a:latin typeface="Times New Roman"/>
                <a:ea typeface="Times New Roman"/>
                <a:cs typeface="Times New Roman"/>
              </a:rPr>
              <a:t>FastAPI</a:t>
            </a:r>
            <a:r>
              <a:rPr sz="56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07780AA-5AE9-6729-B1E5-9963019E86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607967" y="2288124"/>
            <a:ext cx="4895056" cy="576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Direcții</a:t>
            </a:r>
            <a:r>
              <a:t> </a:t>
            </a:r>
            <a:r>
              <a:t>Viitoare</a:t>
            </a:r>
            <a:r>
              <a:t> de </a:t>
            </a:r>
            <a:r>
              <a:t>Dezvoltare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4433DE5-4653-5032-5A0A-A428095A510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607967" y="2907092"/>
            <a:ext cx="4895056" cy="3246820"/>
          </a:xfrm>
        </p:spPr>
        <p:txBody>
          <a:bodyPr xmlns:a="http://schemas.openxmlformats.org/drawingml/2006/main">
            <a:normAutofit fontScale="25000" lnSpcReduction="20000"/>
          </a:bodyPr>
          <a:lstStyle xmlns:a="http://schemas.openxmlformats.org/drawingml/2006/main"/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>Extinderea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 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Datasetului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: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Integrarea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unor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seturi</a:t>
            </a:r>
            <a:r>
              <a:rPr sz="6000">
                <a:latin typeface="Times New Roman"/>
                <a:ea typeface="Times New Roman"/>
                <a:cs typeface="Times New Roman"/>
              </a:rPr>
              <a:t> de date </a:t>
            </a:r>
            <a:r>
              <a:rPr sz="6000">
                <a:latin typeface="Times New Roman"/>
                <a:ea typeface="Times New Roman"/>
                <a:cs typeface="Times New Roman"/>
              </a:rPr>
              <a:t>clinice</a:t>
            </a:r>
            <a:r>
              <a:rPr sz="6000">
                <a:latin typeface="Times New Roman"/>
                <a:ea typeface="Times New Roman"/>
                <a:cs typeface="Times New Roman"/>
              </a:rPr>
              <a:t> locale </a:t>
            </a:r>
            <a:r>
              <a:rPr sz="6000">
                <a:latin typeface="Times New Roman"/>
                <a:ea typeface="Times New Roman"/>
                <a:cs typeface="Times New Roman"/>
              </a:rPr>
              <a:t>suplimentare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pentru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testarea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continuă</a:t>
            </a:r>
            <a:r>
              <a:rPr sz="6000">
                <a:latin typeface="Times New Roman"/>
                <a:ea typeface="Times New Roman"/>
                <a:cs typeface="Times New Roman"/>
              </a:rPr>
              <a:t> a </a:t>
            </a:r>
            <a:r>
              <a:rPr sz="6000">
                <a:latin typeface="Times New Roman"/>
                <a:ea typeface="Times New Roman"/>
                <a:cs typeface="Times New Roman"/>
              </a:rPr>
              <a:t>capacității</a:t>
            </a:r>
            <a:r>
              <a:rPr sz="6000">
                <a:latin typeface="Times New Roman"/>
                <a:ea typeface="Times New Roman"/>
                <a:cs typeface="Times New Roman"/>
              </a:rPr>
              <a:t> de </a:t>
            </a:r>
            <a:r>
              <a:rPr sz="6000">
                <a:latin typeface="Times New Roman"/>
                <a:ea typeface="Times New Roman"/>
                <a:cs typeface="Times New Roman"/>
              </a:rPr>
              <a:t>generalizare</a:t>
            </a:r>
            <a:r>
              <a:rPr sz="60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>Module Predictive Noi: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Extinderea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capabilităților</a:t>
            </a:r>
            <a:r>
              <a:rPr sz="6000">
                <a:latin typeface="Times New Roman"/>
                <a:ea typeface="Times New Roman"/>
                <a:cs typeface="Times New Roman"/>
              </a:rPr>
              <a:t> AI </a:t>
            </a:r>
            <a:r>
              <a:rPr sz="6000">
                <a:latin typeface="Times New Roman"/>
                <a:ea typeface="Times New Roman"/>
                <a:cs typeface="Times New Roman"/>
              </a:rPr>
              <a:t>prin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adăugarea</a:t>
            </a:r>
            <a:r>
              <a:rPr sz="6000">
                <a:latin typeface="Times New Roman"/>
                <a:ea typeface="Times New Roman"/>
                <a:cs typeface="Times New Roman"/>
              </a:rPr>
              <a:t> de </a:t>
            </a:r>
            <a:r>
              <a:rPr sz="6000">
                <a:latin typeface="Times New Roman"/>
                <a:ea typeface="Times New Roman"/>
                <a:cs typeface="Times New Roman"/>
              </a:rPr>
              <a:t>modele</a:t>
            </a:r>
            <a:r>
              <a:rPr sz="6000">
                <a:latin typeface="Times New Roman"/>
                <a:ea typeface="Times New Roman"/>
                <a:cs typeface="Times New Roman"/>
              </a:rPr>
              <a:t> predictive </a:t>
            </a:r>
            <a:r>
              <a:rPr sz="6000">
                <a:latin typeface="Times New Roman"/>
                <a:ea typeface="Times New Roman"/>
                <a:cs typeface="Times New Roman"/>
              </a:rPr>
              <a:t>pentru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alte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investigații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imagistice</a:t>
            </a:r>
            <a:r>
              <a:rPr sz="6000">
                <a:latin typeface="Times New Roman"/>
                <a:ea typeface="Times New Roman"/>
                <a:cs typeface="Times New Roman"/>
              </a:rPr>
              <a:t> (CT, RMN </a:t>
            </a:r>
            <a:r>
              <a:rPr sz="6000">
                <a:latin typeface="Times New Roman"/>
                <a:ea typeface="Times New Roman"/>
                <a:cs typeface="Times New Roman"/>
              </a:rPr>
              <a:t>sau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ecografii</a:t>
            </a:r>
            <a:r>
              <a:rPr sz="6000">
                <a:latin typeface="Times New Roman"/>
                <a:ea typeface="Times New Roman"/>
                <a:cs typeface="Times New Roman"/>
              </a:rPr>
              <a:t>). </a:t>
            </a:r>
          </a:p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>Optimizare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 Edge: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Explorarea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tehnicilor</a:t>
            </a:r>
            <a:r>
              <a:rPr sz="6000">
                <a:latin typeface="Times New Roman"/>
                <a:ea typeface="Times New Roman"/>
                <a:cs typeface="Times New Roman"/>
              </a:rPr>
              <a:t> de </a:t>
            </a:r>
            <a:r>
              <a:rPr sz="6000">
                <a:latin typeface="Times New Roman"/>
                <a:ea typeface="Times New Roman"/>
                <a:cs typeface="Times New Roman"/>
              </a:rPr>
              <a:t>cuantificare</a:t>
            </a:r>
            <a:r>
              <a:rPr sz="6000">
                <a:latin typeface="Times New Roman"/>
                <a:ea typeface="Times New Roman"/>
                <a:cs typeface="Times New Roman"/>
              </a:rPr>
              <a:t> a </a:t>
            </a:r>
            <a:r>
              <a:rPr sz="6000">
                <a:latin typeface="Times New Roman"/>
                <a:ea typeface="Times New Roman"/>
                <a:cs typeface="Times New Roman"/>
              </a:rPr>
              <a:t>modelului</a:t>
            </a:r>
            <a:r>
              <a:rPr sz="6000">
                <a:latin typeface="Times New Roman"/>
                <a:ea typeface="Times New Roman"/>
                <a:cs typeface="Times New Roman"/>
              </a:rPr>
              <a:t> (</a:t>
            </a:r>
            <a:r>
              <a:rPr sz="6000" i="1">
                <a:latin typeface="Times New Roman"/>
                <a:ea typeface="Times New Roman"/>
                <a:cs typeface="Times New Roman"/>
              </a:rPr>
              <a:t>Quantization</a:t>
            </a:r>
            <a:r>
              <a:rPr sz="6000">
                <a:latin typeface="Times New Roman"/>
                <a:ea typeface="Times New Roman"/>
                <a:cs typeface="Times New Roman"/>
              </a:rPr>
              <a:t>) </a:t>
            </a:r>
            <a:r>
              <a:rPr sz="6000">
                <a:latin typeface="Times New Roman"/>
                <a:ea typeface="Times New Roman"/>
                <a:cs typeface="Times New Roman"/>
              </a:rPr>
              <a:t>pentru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reducerea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suplimentară</a:t>
            </a:r>
            <a:r>
              <a:rPr sz="6000">
                <a:latin typeface="Times New Roman"/>
                <a:ea typeface="Times New Roman"/>
                <a:cs typeface="Times New Roman"/>
              </a:rPr>
              <a:t> a </a:t>
            </a:r>
            <a:r>
              <a:rPr sz="6000">
                <a:latin typeface="Times New Roman"/>
                <a:ea typeface="Times New Roman"/>
                <a:cs typeface="Times New Roman"/>
              </a:rPr>
              <a:t>amprentei</a:t>
            </a:r>
            <a:r>
              <a:rPr sz="6000">
                <a:latin typeface="Times New Roman"/>
                <a:ea typeface="Times New Roman"/>
                <a:cs typeface="Times New Roman"/>
              </a:rPr>
              <a:t> de </a:t>
            </a:r>
            <a:r>
              <a:rPr sz="6000">
                <a:latin typeface="Times New Roman"/>
                <a:ea typeface="Times New Roman"/>
                <a:cs typeface="Times New Roman"/>
              </a:rPr>
              <a:t>memorie</a:t>
            </a:r>
            <a:r>
              <a:rPr sz="6000">
                <a:latin typeface="Times New Roman"/>
                <a:ea typeface="Times New Roman"/>
                <a:cs typeface="Times New Roman"/>
              </a:rPr>
              <a:t> pe </a:t>
            </a:r>
            <a:r>
              <a:rPr sz="6000">
                <a:latin typeface="Times New Roman"/>
                <a:ea typeface="Times New Roman"/>
                <a:cs typeface="Times New Roman"/>
              </a:rPr>
              <a:t>sisteme</a:t>
            </a:r>
            <a:r>
              <a:rPr sz="6000">
                <a:latin typeface="Times New Roman"/>
                <a:ea typeface="Times New Roman"/>
                <a:cs typeface="Times New Roman"/>
              </a:rPr>
              <a:t> locale. </a:t>
            </a:r>
          </a:p>
          <a:p xmlns:a="http://schemas.openxmlformats.org/drawingml/2006/main">
            <a:r>
              <a:rPr sz="6000" b="1">
                <a:latin typeface="Times New Roman"/>
                <a:ea typeface="Times New Roman"/>
                <a:cs typeface="Times New Roman"/>
              </a:rPr>
              <a:t>Certificare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 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Medicală</a:t>
            </a:r>
            <a:r>
              <a:rPr sz="6000" b="1">
                <a:latin typeface="Times New Roman"/>
                <a:ea typeface="Times New Roman"/>
                <a:cs typeface="Times New Roman"/>
              </a:rPr>
              <a:t>: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Adaptarea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completă</a:t>
            </a:r>
            <a:r>
              <a:rPr sz="6000">
                <a:latin typeface="Times New Roman"/>
                <a:ea typeface="Times New Roman"/>
                <a:cs typeface="Times New Roman"/>
              </a:rPr>
              <a:t> a </a:t>
            </a:r>
            <a:r>
              <a:rPr sz="6000">
                <a:latin typeface="Times New Roman"/>
                <a:ea typeface="Times New Roman"/>
                <a:cs typeface="Times New Roman"/>
              </a:rPr>
              <a:t>standardelor</a:t>
            </a:r>
            <a:r>
              <a:rPr sz="6000">
                <a:latin typeface="Times New Roman"/>
                <a:ea typeface="Times New Roman"/>
                <a:cs typeface="Times New Roman"/>
              </a:rPr>
              <a:t> de </a:t>
            </a:r>
            <a:r>
              <a:rPr sz="6000">
                <a:latin typeface="Times New Roman"/>
                <a:ea typeface="Times New Roman"/>
                <a:cs typeface="Times New Roman"/>
              </a:rPr>
              <a:t>securitate</a:t>
            </a:r>
            <a:r>
              <a:rPr sz="6000">
                <a:latin typeface="Times New Roman"/>
                <a:ea typeface="Times New Roman"/>
                <a:cs typeface="Times New Roman"/>
              </a:rPr>
              <a:t> a </a:t>
            </a:r>
            <a:r>
              <a:rPr sz="6000">
                <a:latin typeface="Times New Roman"/>
                <a:ea typeface="Times New Roman"/>
                <a:cs typeface="Times New Roman"/>
              </a:rPr>
              <a:t>datelor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în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vederea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alinierii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platformei</a:t>
            </a:r>
            <a:r>
              <a:rPr sz="6000">
                <a:latin typeface="Times New Roman"/>
                <a:ea typeface="Times New Roman"/>
                <a:cs typeface="Times New Roman"/>
              </a:rPr>
              <a:t> la </a:t>
            </a:r>
            <a:r>
              <a:rPr sz="6000">
                <a:latin typeface="Times New Roman"/>
                <a:ea typeface="Times New Roman"/>
                <a:cs typeface="Times New Roman"/>
              </a:rPr>
              <a:t>cerințele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sistemelor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medicale</a:t>
            </a:r>
            <a:r>
              <a:rPr sz="6000">
                <a:latin typeface="Times New Roman"/>
                <a:ea typeface="Times New Roman"/>
                <a:cs typeface="Times New Roman"/>
              </a:rPr>
              <a:t> </a:t>
            </a:r>
            <a:r>
              <a:rPr sz="6000">
                <a:latin typeface="Times New Roman"/>
                <a:ea typeface="Times New Roman"/>
                <a:cs typeface="Times New Roman"/>
              </a:rPr>
              <a:t>reale</a:t>
            </a:r>
            <a:r>
              <a:rPr sz="6000">
                <a:latin typeface="Times New Roman"/>
                <a:ea typeface="Times New Roman"/>
                <a:cs typeface="Times New Roman"/>
              </a:rPr>
              <a:t>. </a:t>
            </a:r>
          </a:p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402219259"/>
      </p:ext>
    </p:extLst>
  </p:cSld>
</p:sld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  <a:ln w="1587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2026-07-03T19:43:37.2370000Z</dcterms:created>
  <dcterms:modified xsi:type="dcterms:W3CDTF">2026-07-03T19:43:37.2370000Z</dcterms:modified>
</coreProperties>
</file>